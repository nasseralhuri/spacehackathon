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Default Extension="jpg" ContentType="image/jpeg"/>
</Types>
</file>

<file path=_rels/.rels><?xml version='1.0' encoding='UTF-8' standalone='yes'?>
<Relationships xmlns="http://schemas.openxmlformats.org/package/2006/relationships"><Relationship Id="R3693a4a3df8e49e7" Type="http://schemas.openxmlformats.org/officeDocument/2006/relationships/officeDocument" Target="ppt/presentation.xml"/><Relationship Id="R6552255447814ca8" Type="http://schemas.openxmlformats.org/officeDocument/2006/relationships/extended-properties" Target="docProps/app.xml"/><Relationship Id="Rc42f4ba6dd6348ce"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c437e29670fc4762"/>
  </p:sldMasterIdLst>
  <p:notesMasterIdLst>
    <p:notesMasterId xmlns:r="http://schemas.openxmlformats.org/officeDocument/2006/relationships" r:id="R28d2207b92b74de5"/>
  </p:notesMasterIdLst>
  <p:sldIdLst>
    <p:sldId xmlns:r="http://schemas.openxmlformats.org/officeDocument/2006/relationships" id="256" r:id="Rf4dfa02a48924dcf"/>
    <p:sldId xmlns:r="http://schemas.openxmlformats.org/officeDocument/2006/relationships" id="257" r:id="R0250ceb3d43b4cc6"/>
    <p:sldId xmlns:r="http://schemas.openxmlformats.org/officeDocument/2006/relationships" id="258" r:id="Rc4430c007319428f"/>
    <p:sldId xmlns:r="http://schemas.openxmlformats.org/officeDocument/2006/relationships" id="259" r:id="Rb75867a560004dce"/>
    <p:sldId xmlns:r="http://schemas.openxmlformats.org/officeDocument/2006/relationships" id="260" r:id="Ra6ab6ed3f820402b"/>
    <p:sldId xmlns:r="http://schemas.openxmlformats.org/officeDocument/2006/relationships" id="261" r:id="Rccdadf42f21b4c97"/>
    <p:sldId xmlns:r="http://schemas.openxmlformats.org/officeDocument/2006/relationships" id="262" r:id="R3b750980735b4ee1"/>
    <p:sldId xmlns:r="http://schemas.openxmlformats.org/officeDocument/2006/relationships" id="263" r:id="R5c132eb2fd26463b"/>
    <p:sldId xmlns:r="http://schemas.openxmlformats.org/officeDocument/2006/relationships" id="264" r:id="R1e6dfe076abe496f"/>
    <p:sldId xmlns:r="http://schemas.openxmlformats.org/officeDocument/2006/relationships" id="265" r:id="R7dcee3cb8d6f4bc1"/>
    <p:sldId xmlns:r="http://schemas.openxmlformats.org/officeDocument/2006/relationships" id="266" r:id="Rb133d68c9d5a4136"/>
    <p:sldId xmlns:r="http://schemas.openxmlformats.org/officeDocument/2006/relationships" id="267" r:id="R9916258caeda43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50ceb3d43b4cc6" Type="http://schemas.openxmlformats.org/officeDocument/2006/relationships/slide" Target="slides/slide2.xml"/><Relationship Id="R1e6dfe076abe496f" Type="http://schemas.openxmlformats.org/officeDocument/2006/relationships/slide" Target="slides/slide9.xml"/><Relationship Id="R28d2207b92b74de5" Type="http://schemas.openxmlformats.org/officeDocument/2006/relationships/notesMaster" Target="notesMasters/notesMaster1.xml"/><Relationship Id="R3b750980735b4ee1" Type="http://schemas.openxmlformats.org/officeDocument/2006/relationships/slide" Target="slides/slide7.xml"/><Relationship Id="R4d6c77690adf4604" Type="http://schemas.openxmlformats.org/officeDocument/2006/relationships/presProps" Target="presProps.xml"/><Relationship Id="R5c132eb2fd26463b" Type="http://schemas.openxmlformats.org/officeDocument/2006/relationships/slide" Target="slides/slide8.xml"/><Relationship Id="R6e6162d7dfe84cbc" Type="http://schemas.openxmlformats.org/officeDocument/2006/relationships/tableStyles" Target="tableStyles.xml"/><Relationship Id="R7dcee3cb8d6f4bc1" Type="http://schemas.openxmlformats.org/officeDocument/2006/relationships/slide" Target="slides/slide10.xml"/><Relationship Id="R9916258caeda435b" Type="http://schemas.openxmlformats.org/officeDocument/2006/relationships/slide" Target="slides/slide12.xml"/><Relationship Id="Ra6ab6ed3f820402b" Type="http://schemas.openxmlformats.org/officeDocument/2006/relationships/slide" Target="slides/slide5.xml"/><Relationship Id="Rb133d68c9d5a4136" Type="http://schemas.openxmlformats.org/officeDocument/2006/relationships/slide" Target="slides/slide11.xml"/><Relationship Id="Rb75867a560004dce" Type="http://schemas.openxmlformats.org/officeDocument/2006/relationships/slide" Target="slides/slide4.xml"/><Relationship Id="Rc437e29670fc4762" Type="http://schemas.openxmlformats.org/officeDocument/2006/relationships/slideMaster" Target="slideMasters/slideMaster1.xml"/><Relationship Id="Rc4430c007319428f" Type="http://schemas.openxmlformats.org/officeDocument/2006/relationships/slide" Target="slides/slide3.xml"/><Relationship Id="Rccdadf42f21b4c97" Type="http://schemas.openxmlformats.org/officeDocument/2006/relationships/slide" Target="slides/slide6.xml"/><Relationship Id="Rf4dfa02a48924dcf" Type="http://schemas.openxmlformats.org/officeDocument/2006/relationships/slide" Target="slides/slide1.xml"/><Relationship Id="Rf53a525ea8854bba"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fa2e0fd69a3349c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embedded preview">
  <a:themeElements>
    <a:clrScheme name="embedded preview">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embedded p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73d77c67c744317" Type="http://schemas.openxmlformats.org/officeDocument/2006/relationships/slide" Target="../slides/slide1.xml"/><Relationship Id="Rfa49527aba2d4f70"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4478ecf759324999" Type="http://schemas.openxmlformats.org/officeDocument/2006/relationships/slide" Target="../slides/slide2.xml"/><Relationship Id="R4fa24c1447764d8e"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6c22d4e312e44b7d" Type="http://schemas.openxmlformats.org/officeDocument/2006/relationships/notesMaster" Target="../notesMasters/notesMaster1.xml"/><Relationship Id="R92907f49f6454cea"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281dcdbac2b2496d" Type="http://schemas.openxmlformats.org/officeDocument/2006/relationships/slide" Target="../slides/slide4.xml"/><Relationship Id="R9a70b6d910a24eb0"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a2c2a53e3134dca" Type="http://schemas.openxmlformats.org/officeDocument/2006/relationships/slide" Target="../slides/slide5.xml"/><Relationship Id="Re1c99c894b7947c4"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a56d29ef21e43fb" Type="http://schemas.openxmlformats.org/officeDocument/2006/relationships/notesMaster" Target="../notesMasters/notesMaster1.xml"/><Relationship Id="R491073043e3b4e46"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c26f76a1087a4b08" Type="http://schemas.openxmlformats.org/officeDocument/2006/relationships/slide" Target="../slides/slide7.xml"/><Relationship Id="Rd6c34493f1b54527"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7fbde23b5e8d4439" Type="http://schemas.openxmlformats.org/officeDocument/2006/relationships/notesMaster" Target="../notesMasters/notesMaster1.xml"/><Relationship Id="Re9092800c4324b1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4a44250feb2442d1" Type="http://schemas.openxmlformats.org/officeDocument/2006/relationships/notesMaster" Target="../notesMasters/notesMaster1.xml"/><Relationship Id="Rb12be31a4e5644b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4767554c143143bb" Type="http://schemas.openxmlformats.org/officeDocument/2006/relationships/notesMaster" Target="../notesMasters/notesMaster1.xml"/><Relationship Id="R81250bf7da7b4c5a"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e40fcc85dda47ef" Type="http://schemas.openxmlformats.org/officeDocument/2006/relationships/slide" Target="../slides/slide11.xml"/><Relationship Id="Rcdba83be9dde47cd"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6a38918db327455b" Type="http://schemas.openxmlformats.org/officeDocument/2006/relationships/notesMaster" Target="../notesMasters/notesMaster1.xml"/><Relationship Id="Re9ce5055cb5942fe" Type="http://schemas.openxmlformats.org/officeDocument/2006/relationships/slide" Target="../slides/slide1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draft. Theme: Urban Expansion, Land Use Change &amp; Heat Risk. The Al Khor README and supplied handover are the sources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problem and user need from README sections 1 and 2. No field interviews, exposure measurements or validated benefit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docs/Local-Review.md, results/local-greenery-audit.json and unchanged planning-cells.csv. Local observer: Abdulrahman Almohannadi; reports recorded 6 October 2026, observation date unspecified. Street View link supplied by Nasser: https://maps.app.goo.gl/gPEzxW3NFqErPWNP8 . Panorama McFzT23rIzQ4UJTSgSHFCQ, capture March 2023. Camera 25.7175476, 51.5145504 is inside V04-23, about 84 m from its centre, not a surveyed sign coordinate. It provides historical context, historical imagery, supplemented by Nasser's firsthand report. Some tree shadow is visible; shade varies. Nasser reports visiting the sites and confirms the described physical situation is the same as in September 2026; exact visit dates were not supplied. No passenger counts, cooling benefits or design recommendations are established. Street View imagery is linked, not redistributed. Google guidance: https://about.google/brand-resource-center/products-and-services/geo-guidelines/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scene.json, landsat-scene.json, metadata, README sections 3 and 4. Contains modified Copernicus Sentinel data (2026). Landsat courtesy USGS, doi:10.5066/P9OGBGM6. ESA WorldCover 2021 v200, Zanaga et al. (2022), CC BY 4.0, doi:10.5281/zenodo.7254220. OpenStreetMap contributors, ODbL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workflow diagram. Methods are detailed in README section 4. Inputs are 35 hashed files; matching support is required for the two accepted thermal dates. Ranking is an investigation heuristic. Local review is a separate evidence stage. It does not alter the satellite ranking or create a human-use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results/local-review-map.png, packaged Sentinel-2 RGB 30 September 2026, app/local-review.json, aoi.geojson and unchanged planning-cells.geojson. Labels identify the full 300 m polygons. Teal dashed line is the analyst-defined study boundary. Local location names and uses are from Abdulrahman; Nasser confirms site visits and unchanged physical conditions relative to September 2026; exact visit dates unspecified, detailed assessment pending. V04-23 and V04-24 are adjacent; a nearby farmers market has not been assigned to a cell. Street View marker is the historical camera, not an exact stop point. Contains modified Copernicus Sentinel data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results/multidate-temperature.png and coastal-multidate-summary.json. The two accepted dates share screened support. Footprint is observed sample area, not total built-up city area. Surface temperature is not air temperature or heat-health risk. Updated display uses the two unchanged common-temp rasters with a common 30–60 °C scale. The rejected 6 September date is explained in text instead of an empty map; its exclusion record is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results/planning-summary.json, planning-sensitivity.csv and README section 8. Green-pixel share is thresholded NDVI, not subpixel vegetation fraction. Building coverage is contributed and incomplete. Candidate retained sample footprint totals 31.8195 km². Local observations: docs/Local-Review.md; Nasser confirms site visits; detailed assessment pending. V04-23 maxima are 0.26262 and 0.24985; matched-support shares at diagnostic threshold 0.20 are 2.7222% and 0.3889%. Nasser confirms roadside trees and unchanged physical conditions relative to September 2026 from site visits; exact visit dates were not supplied. This does not validate the optical threshold or vegetation health. Scenario ranks remain unchanged; no unique certified intervention site. The fixed score weights remain 50% heat, 30% inverse green, 20% mapped buildings.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 sections 6 and 8, reference-samples.csv, notebook-verification.json when available. 20/30 coastal references agree with the spectral/QA screen. All 30 OSM water-polygon references disagree, with some contributed polygons spanning dry land. These positive-only agreement tests do not establish overall accuracy. Reproducibility does not establish scientific accuracy. Normal-kernel verification: Repository URL to be supplied separately Source commit 9781b95a46d86eb858ae9714ee53198ad22cfb6c. The executed notebook was retrieved from artifact 11328001190. All seven regenerated CSV tables match the supplied baseline byte for byte. These are rule-agreement checks on contributed positive reference points, not overall accuracy. The separate local pixel audit reproduces the baseline V04-23 result; it is not independent thermal or vegetation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next-stage activities, not completed work. See README sections 1, 2 and 8. A planner partnership, field validation and suitable imagery are dependencies; no partner agreement or funded incubation is claimed. No additional thermal date or historical change measurement was added in this local-review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Nasser selected responsibilities on 5 October 2026. Abdulrahman supplied the observations in the teammate notes, recorded 6 October 2026. Nasser reports visiting the sites and confirms the described physical situation is the same as in September 2026. Exact visit dates were not supplied; detailed measurements remain pending. Other members retain the assigned responsibilities, without claimed completion. Repository visibility verified public; submission requires final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 sections 3 and 10, DATA-LICENSES.md, scene.json, landsat-scene.json and metadata. These are dataset attributions, not claims of field validation. Instructor recommended Copernicus Browser (https://browser.dataspace.copernicus.eu/ ; official documentation checked: https://documentation.dataspace.copernicus.eu/Applications/Browser.html), NASA Earthdata supplied dashboard link (https://earthdata.nasa.gov/dashboard ; exact destination unconfirmed), Bellingcat geolocation toolkit (https://bellingcat.gitbook.io/toolkit/categories/geolocation ; checked). NASA Worldview was an additional suggestion, not the instructor exact link. No data provenance was changed to these portals. Full supplied instructor links and verification status are in docs/Discovery-Resources.md. Earth Search remains optical download provenance and Planetary Computer thermal provenance. WorldCover DOI and OSM licence above are retained. Street View reference is linked, capture March 2023; no Google imagery redistributed.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9bb25de3aa74bb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4121c661741a402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3692fd8dd26940be"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68796ea9dc14f95"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6b10bcb2ec094138"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97391c8dd4d479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C83F314-1A4D-4D02-81D5-634D16BD6D4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7FBADD6-4158-4C74-9C39-C254FC5A161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061276EA-FB27-45B1-B775-39EF7089A7D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1F0DC04-F2CB-4734-A176-BB21756384C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8FD6440A-F37E-4EC8-AA5C-6E476358D8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0E94DCD-C850-4A7C-B2E7-6AE576E32F8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C43145C-0981-4FD0-8A44-F7B236CD5E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7CD96CD-2700-41B5-9342-5C3368F5EF7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095AF0E9-3E76-4747-A37E-497F5BFEF3A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84698F6-EB5A-45DF-BC72-D0529A8F3D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66D3FC5-3CAD-4983-A8DD-A48B2F2527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903D2FB-CEFB-43B3-9999-05D98C6280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316CF2F-12AF-48DA-BDC8-1005520CF48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721DA3B-08E8-462E-9B13-1D15101270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C11C8A0-67AB-4348-9EE0-755B8CDC79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4a2e35cbca445b6" Type="http://schemas.openxmlformats.org/officeDocument/2006/relationships/slideLayout" Target="../slideLayouts/slideLayout1.xml"/><Relationship Id="R1efd1f59c2ea4a76" Type="http://schemas.openxmlformats.org/officeDocument/2006/relationships/slideLayout" Target="../slideLayouts/slideLayout6.xml"/><Relationship Id="R4babc2ac96dd42ea" Type="http://schemas.openxmlformats.org/officeDocument/2006/relationships/slideLayout" Target="../slideLayouts/slideLayout3.xml"/><Relationship Id="R81dba8897ec84de9" Type="http://schemas.openxmlformats.org/officeDocument/2006/relationships/theme" Target="theme/theme2.xml"/><Relationship Id="Ra5cbe0d6cd41483f" Type="http://schemas.openxmlformats.org/officeDocument/2006/relationships/slideLayout" Target="../slideLayouts/slideLayout2.xml"/><Relationship Id="Rab3c85198230416a" Type="http://schemas.openxmlformats.org/officeDocument/2006/relationships/slideLayout" Target="../slideLayouts/slideLayout4.xml"/><Relationship Id="Rab95646195c74f4a"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a2e35cbca445b6"/>
    <p:sldLayoutId xmlns:r="http://schemas.openxmlformats.org/officeDocument/2006/relationships" id="2147483650" r:id="Ra5cbe0d6cd41483f"/>
    <p:sldLayoutId xmlns:r="http://schemas.openxmlformats.org/officeDocument/2006/relationships" id="2147483651" r:id="R4babc2ac96dd42ea"/>
    <p:sldLayoutId xmlns:r="http://schemas.openxmlformats.org/officeDocument/2006/relationships" id="2147483652" r:id="Rab3c85198230416a"/>
    <p:sldLayoutId xmlns:r="http://schemas.openxmlformats.org/officeDocument/2006/relationships" id="2147483653" r:id="Rab95646195c74f4a"/>
    <p:sldLayoutId xmlns:r="http://schemas.openxmlformats.org/officeDocument/2006/relationships" id="2147483654" r:id="R1efd1f59c2ea4a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embedded preview">
  <a:themeElements>
    <a:clrScheme name="embedded preview">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embedded p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df8d7d45a134f46" Type="http://schemas.openxmlformats.org/officeDocument/2006/relationships/slideLayout" Target="../slideLayouts/slideLayout6.xml"/><Relationship Id="Rbb2301b54e7d4a2f"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b9c212b9138f464c" Type="http://schemas.openxmlformats.org/officeDocument/2006/relationships/notesSlide" Target="../notesSlides/notesSlide2.xml"/><Relationship Id="Rbe0e7dab23d54b1f"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25e51386f8bf4de7" Type="http://schemas.openxmlformats.org/officeDocument/2006/relationships/slideLayout" Target="../slideLayouts/slideLayout6.xml"/><Relationship Id="R4aa0c2442eb7485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583dd6c58abe4679" Type="http://schemas.openxmlformats.org/officeDocument/2006/relationships/slideLayout" Target="../slideLayouts/slideLayout6.xml"/><Relationship Id="Rc6b97ecee15f44fc"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4906da37a13a440b" Type="http://schemas.openxmlformats.org/officeDocument/2006/relationships/notesSlide" Target="../notesSlides/notesSlide5.xml"/><Relationship Id="Rb29b191e2ffb49bd"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0676d3710e6e4e8d" Type="http://schemas.openxmlformats.org/officeDocument/2006/relationships/notesSlide" Target="../notesSlides/notesSlide6.xml"/><Relationship Id="R243742fd3c8d4d0c" Type="http://schemas.openxmlformats.org/officeDocument/2006/relationships/slideLayout" Target="../slideLayouts/slideLayout6.xml"/><Relationship Id="Re0168ebde06e4c1b" Type="http://schemas.openxmlformats.org/officeDocument/2006/relationships/image" Target="../media/image.png"/><Relationship Id="rId4" Type="http://schemas.openxmlformats.org/officeDocument/2006/relationships/image" Target="../media/image1.pn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jpg"/></Relationships>
</file>

<file path=ppt/slides/_rels/slide7.xml.rels><?xml version='1.0' encoding='UTF-8' standalone='yes'?>
<Relationships xmlns="http://schemas.openxmlformats.org/package/2006/relationships"><Relationship Id="R8f42fadd3d094151" Type="http://schemas.openxmlformats.org/officeDocument/2006/relationships/image" Target="../media/image2.png"/><Relationship Id="Rcb2b3595c5e241e8" Type="http://schemas.openxmlformats.org/officeDocument/2006/relationships/slideLayout" Target="../slideLayouts/slideLayout6.xml"/><Relationship Id="Rd9f31e30777347b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52d2066fb0b4107" Type="http://schemas.openxmlformats.org/officeDocument/2006/relationships/notesSlide" Target="../notesSlides/notesSlide8.xml"/><Relationship Id="Rbe2c44bc397e4d6c"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b5efbc4c5b4e4039" Type="http://schemas.openxmlformats.org/officeDocument/2006/relationships/notesSlide" Target="../notesSlides/notesSlide9.xml"/><Relationship Id="Rfad4fc765170434a"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668edc67a8ae4abb" Type="http://schemas.openxmlformats.org/officeDocument/2006/relationships/notesSlide" Target="../notesSlides/notesSlide10.xml"/><Relationship Id="R8677e58fe7f34e27"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2d74ea5f0c5249d6" Type="http://schemas.openxmlformats.org/officeDocument/2006/relationships/notesSlide" Target="../notesSlides/notesSlide11.xml"/><Relationship Id="Rf7df3068b9144b09"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22b9c89852ae4bd1" Type="http://schemas.openxmlformats.org/officeDocument/2006/relationships/slideLayout" Target="../slideLayouts/slideLayout6.xml"/><Relationship Id="Rb7ba90fa2b4f46b7" Type="http://schemas.openxmlformats.org/officeDocument/2006/relationships/notesSlide" Target="../notesSlides/notesSlide12.xml"/></Relationships>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C4380B-2D3C-429C-A4B3-3874A37F08FB}"/>
              </a:ext>
            </a:extLst>
          </p:cNvPr>
          <p:cNvSpPr>
            <a:spLocks xmlns:a="http://schemas.openxmlformats.org/drawingml/2006/main" noGrp="1"/>
          </p:cNvSpPr>
          <p:nvPr/>
        </p:nvSpPr>
        <p:spPr>
          <a:xfrm xmlns:a="http://schemas.openxmlformats.org/drawingml/2006/main">
            <a:off x="609600" y="1428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1">
                <a:solidFill>
                  <a:srgbClr val="163D46"/>
                </a:solidFill>
                <a:latin typeface="Bitstream Charter"/>
                <a:ea typeface="Bitstream Charter"/>
                <a:cs typeface="Bitstream Charter"/>
              </a:defRPr>
            </a:pPr>
            <a:r>
              <a:rPr sz="5400" b="1">
                <a:solidFill>
                  <a:srgbClr val="163D46"/>
                </a:solidFill>
                <a:latin typeface="Bitstream Charter"/>
                <a:ea typeface="Bitstream Charter"/>
                <a:cs typeface="Bitstream Charter"/>
              </a:rPr>
              <a:t>UrbanHeat AI</a:t>
            </a:r>
          </a:p>
        </p:txBody>
      </p:sp>
      <p:sp>
        <p:nvSpPr>
          <p:cNvPr id="2" name="">
            <a:extLst xmlns:a="http://schemas.openxmlformats.org/drawingml/2006/main">
              <a:ext uri="{FF2B5EF4-FFF2-40B4-BE49-F238E27FC236}">
                <a16:creationId xmlns:a16="http://schemas.microsoft.com/office/drawing/2014/main" id="{DEC6C8FD-4D97-4EBB-BCFE-4E09545C8972}"/>
              </a:ext>
            </a:extLst>
          </p:cNvPr>
          <p:cNvSpPr>
            <a:spLocks xmlns:a="http://schemas.openxmlformats.org/drawingml/2006/main" noGrp="1"/>
          </p:cNvSpPr>
          <p:nvPr/>
        </p:nvSpPr>
        <p:spPr>
          <a:xfrm xmlns:a="http://schemas.openxmlformats.org/drawingml/2006/main">
            <a:off x="609600" y="2381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13846"/>
                </a:solidFill>
                <a:latin typeface="Bitstream Charter"/>
                <a:ea typeface="Bitstream Charter"/>
                <a:cs typeface="Bitstream Charter"/>
              </a:defRPr>
            </a:pPr>
            <a:r>
              <a:rPr sz="3000" b="0">
                <a:solidFill>
                  <a:srgbClr val="213846"/>
                </a:solidFill>
                <a:latin typeface="Bitstream Charter"/>
                <a:ea typeface="Bitstream Charter"/>
                <a:cs typeface="Bitstream Charter"/>
              </a:rPr>
              <a:t>Al Khor area study, Qatar</a:t>
            </a:r>
          </a:p>
        </p:txBody>
      </p:sp>
      <p:sp>
        <p:nvSpPr>
          <p:cNvPr id="3" name="">
            <a:extLst xmlns:a="http://schemas.openxmlformats.org/drawingml/2006/main">
              <a:ext uri="{FF2B5EF4-FFF2-40B4-BE49-F238E27FC236}">
                <a16:creationId xmlns:a16="http://schemas.microsoft.com/office/drawing/2014/main" id="{730F48B9-803B-4273-8B02-E46EA5F141DF}"/>
              </a:ext>
            </a:extLst>
          </p:cNvPr>
          <p:cNvSpPr>
            <a:spLocks xmlns:a="http://schemas.openxmlformats.org/drawingml/2006/main" noGrp="1"/>
          </p:cNvSpPr>
          <p:nvPr/>
        </p:nvSpPr>
        <p:spPr>
          <a:xfrm xmlns:a="http://schemas.openxmlformats.org/drawingml/2006/main">
            <a:off x="609600" y="34766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Theme: Urban Expansion, Land Use Change &amp; Heat Risk</a:t>
            </a:r>
          </a:p>
        </p:txBody>
      </p:sp>
      <p:sp>
        <p:nvSpPr>
          <p:cNvPr id="4" name="">
            <a:extLst xmlns:a="http://schemas.openxmlformats.org/drawingml/2006/main">
              <a:ext uri="{FF2B5EF4-FFF2-40B4-BE49-F238E27FC236}">
                <a16:creationId xmlns:a16="http://schemas.microsoft.com/office/drawing/2014/main" id="{4F147DD0-754F-4466-8431-843893E72671}"/>
              </a:ext>
            </a:extLst>
          </p:cNvPr>
          <p:cNvSpPr>
            <a:spLocks xmlns:a="http://schemas.openxmlformats.org/drawingml/2006/main" noGrp="1"/>
          </p:cNvSpPr>
          <p:nvPr/>
        </p:nvSpPr>
        <p:spPr>
          <a:xfrm xmlns:a="http://schemas.openxmlformats.org/drawingml/2006/main">
            <a:off x="609600" y="4095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Satellite and local evidence for heat-protection site assessments</a:t>
            </a:r>
          </a:p>
        </p:txBody>
      </p:sp>
      <p:sp>
        <p:nvSpPr>
          <p:cNvPr id="5" name="">
            <a:extLst xmlns:a="http://schemas.openxmlformats.org/drawingml/2006/main">
              <a:ext uri="{FF2B5EF4-FFF2-40B4-BE49-F238E27FC236}">
                <a16:creationId xmlns:a16="http://schemas.microsoft.com/office/drawing/2014/main" id="{0BB06FF0-E678-47D6-85FD-56BA6D9464C3}"/>
              </a:ext>
            </a:extLst>
          </p:cNvPr>
          <p:cNvSpPr>
            <a:spLocks xmlns:a="http://schemas.openxmlformats.org/drawingml/2006/main" noGrp="1"/>
          </p:cNvSpPr>
          <p:nvPr/>
        </p:nvSpPr>
        <p:spPr>
          <a:xfrm xmlns:a="http://schemas.openxmlformats.org/drawingml/2006/main">
            <a:off x="609600" y="47148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Team Al Zubarah, Qatar</a:t>
            </a:r>
          </a:p>
        </p:txBody>
      </p:sp>
      <p:sp>
        <p:nvSpPr>
          <p:cNvPr id="6" name="">
            <a:extLst xmlns:a="http://schemas.openxmlformats.org/drawingml/2006/main">
              <a:ext uri="{FF2B5EF4-FFF2-40B4-BE49-F238E27FC236}">
                <a16:creationId xmlns:a16="http://schemas.microsoft.com/office/drawing/2014/main" id="{538A5F29-45B6-4B22-9B04-7BC814A528AD}"/>
              </a:ext>
            </a:extLst>
          </p:cNvPr>
          <p:cNvSpPr>
            <a:spLocks xmlns:a="http://schemas.openxmlformats.org/drawingml/2006/main" noGrp="1"/>
          </p:cNvSpPr>
          <p:nvPr/>
        </p:nvSpPr>
        <p:spPr>
          <a:xfrm xmlns:a="http://schemas.openxmlformats.org/drawingml/2006/main">
            <a:off x="609600" y="5334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UAE Space Academy hackathon, October 2026</a:t>
            </a:r>
          </a:p>
        </p:txBody>
      </p:sp>
    </p:spTree>
    <p:extLst>
      <p:ext uri="{BB962C8B-B14F-4D97-AF65-F5344CB8AC3E}">
        <p14:creationId xmlns:p14="http://schemas.microsoft.com/office/powerpoint/2010/main" val="918971655"/>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2E9A6E-1BFC-4A6F-BA9B-7DA7B4756DF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The planning problem</a:t>
            </a:r>
          </a:p>
        </p:txBody>
      </p:sp>
      <p:sp>
        <p:nvSpPr>
          <p:cNvPr id="2" name="">
            <a:extLst xmlns:a="http://schemas.openxmlformats.org/drawingml/2006/main">
              <a:ext uri="{FF2B5EF4-FFF2-40B4-BE49-F238E27FC236}">
                <a16:creationId xmlns:a16="http://schemas.microsoft.com/office/drawing/2014/main" id="{B222E879-0DF5-40EF-8CB9-BC1167E10EF1}"/>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Proposed user: a municipal planning team choosing where to inspect first.</a:t>
            </a:r>
          </a:p>
        </p:txBody>
      </p:sp>
      <p:sp>
        <p:nvSpPr>
          <p:cNvPr id="3" name="">
            <a:extLst xmlns:a="http://schemas.openxmlformats.org/drawingml/2006/main">
              <a:ext uri="{FF2B5EF4-FFF2-40B4-BE49-F238E27FC236}">
                <a16:creationId xmlns:a16="http://schemas.microsoft.com/office/drawing/2014/main" id="{9356DB36-8746-4414-89D2-8FEE2AB1C1E5}"/>
              </a:ext>
            </a:extLst>
          </p:cNvPr>
          <p:cNvSpPr>
            <a:spLocks xmlns:a="http://schemas.openxmlformats.org/drawingml/2006/main" noGrp="1"/>
          </p:cNvSpPr>
          <p:nvPr/>
        </p:nvSpPr>
        <p:spPr>
          <a:xfrm xmlns:a="http://schemas.openxmlformats.org/drawingml/2006/main">
            <a:off x="609600" y="26384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Shortlist cells, then inspect use, shade, access, ownership and feasibility before choosing an intervention.</a:t>
            </a:r>
          </a:p>
        </p:txBody>
      </p:sp>
      <p:sp>
        <p:nvSpPr>
          <p:cNvPr id="4" name="">
            <a:extLst xmlns:a="http://schemas.openxmlformats.org/drawingml/2006/main">
              <a:ext uri="{FF2B5EF4-FFF2-40B4-BE49-F238E27FC236}">
                <a16:creationId xmlns:a16="http://schemas.microsoft.com/office/drawing/2014/main" id="{5133C73F-E240-47C7-A4A5-4FEFC54E356B}"/>
              </a:ext>
            </a:extLst>
          </p:cNvPr>
          <p:cNvSpPr>
            <a:spLocks xmlns:a="http://schemas.openxmlformats.org/drawingml/2006/main" noGrp="1"/>
          </p:cNvSpPr>
          <p:nvPr/>
        </p:nvSpPr>
        <p:spPr>
          <a:xfrm xmlns:a="http://schemas.openxmlformats.org/drawingml/2006/main">
            <a:off x="609600" y="37052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Proposed value: organise evidence and inspection decisions. No adoption or measured benefit is established.</a:t>
            </a:r>
          </a:p>
        </p:txBody>
      </p:sp>
      <p:sp>
        <p:nvSpPr>
          <p:cNvPr id="5" name="">
            <a:extLst xmlns:a="http://schemas.openxmlformats.org/drawingml/2006/main">
              <a:ext uri="{FF2B5EF4-FFF2-40B4-BE49-F238E27FC236}">
                <a16:creationId xmlns:a16="http://schemas.microsoft.com/office/drawing/2014/main" id="{9FD92454-73BB-4C6F-BD2F-BB4B0F020D23}"/>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25" b="0">
                <a:solidFill>
                  <a:srgbClr val="526569"/>
                </a:solidFill>
                <a:latin typeface="Bitstream Charter"/>
                <a:ea typeface="Bitstream Charter"/>
                <a:cs typeface="Bitstream Charter"/>
              </a:rPr>
              <a:t>The prototype supports investigation; it does not establish heat-health risk.</a:t>
            </a:r>
          </a:p>
        </p:txBody>
      </p:sp>
    </p:spTree>
    <p:extLst>
      <p:ext uri="{BB962C8B-B14F-4D97-AF65-F5344CB8AC3E}">
        <p14:creationId xmlns:p14="http://schemas.microsoft.com/office/powerpoint/2010/main" val="1138529212"/>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CB4741-726A-431A-B8BE-0DE6CE6ED14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Bus-stop site assessment: V04-23</a:t>
            </a:r>
          </a:p>
        </p:txBody>
      </p:sp>
      <p:sp>
        <p:nvSpPr>
          <p:cNvPr id="2" name="">
            <a:extLst xmlns:a="http://schemas.openxmlformats.org/drawingml/2006/main">
              <a:ext uri="{FF2B5EF4-FFF2-40B4-BE49-F238E27FC236}">
                <a16:creationId xmlns:a16="http://schemas.microsoft.com/office/drawing/2014/main" id="{F34C4DD0-4FBC-42FC-8E7A-B167CF7555C2}"/>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Satellite: 50.4 °C mean of two cell medians; 0% detected green pixels at the current threshold.</a:t>
            </a:r>
          </a:p>
        </p:txBody>
      </p:sp>
      <p:sp>
        <p:nvSpPr>
          <p:cNvPr id="3" name="">
            <a:extLst xmlns:a="http://schemas.openxmlformats.org/drawingml/2006/main">
              <a:ext uri="{FF2B5EF4-FFF2-40B4-BE49-F238E27FC236}">
                <a16:creationId xmlns:a16="http://schemas.microsoft.com/office/drawing/2014/main" id="{DEE9A8AB-F412-45ED-ACAF-66808CEAE494}"/>
              </a:ext>
            </a:extLst>
          </p:cNvPr>
          <p:cNvSpPr>
            <a:spLocks xmlns:a="http://schemas.openxmlformats.org/drawingml/2006/main" noGrp="1"/>
          </p:cNvSpPr>
          <p:nvPr/>
        </p:nvSpPr>
        <p:spPr>
          <a:xfrm xmlns:a="http://schemas.openxmlformats.org/drawingml/2006/main">
            <a:off x="609600" y="26384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Local evidence: roadside trees, no shelter and limited walking access; Nasser confirms site visits.</a:t>
            </a:r>
          </a:p>
        </p:txBody>
      </p:sp>
      <p:sp>
        <p:nvSpPr>
          <p:cNvPr id="4" name="">
            <a:extLst xmlns:a="http://schemas.openxmlformats.org/drawingml/2006/main">
              <a:ext uri="{FF2B5EF4-FFF2-40B4-BE49-F238E27FC236}">
                <a16:creationId xmlns:a16="http://schemas.microsoft.com/office/drawing/2014/main" id="{B107BB14-1B93-4FE4-B4A6-7850C84DE0FD}"/>
              </a:ext>
            </a:extLst>
          </p:cNvPr>
          <p:cNvSpPr>
            <a:spLocks xmlns:a="http://schemas.openxmlformats.org/drawingml/2006/main" noGrp="1"/>
          </p:cNvSpPr>
          <p:nvPr/>
        </p:nvSpPr>
        <p:spPr>
          <a:xfrm xmlns:a="http://schemas.openxmlformats.org/drawingml/2006/main">
            <a:off x="609600" y="37052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Next check: waiting-time shade, passenger use, route safety, ownership and feasibility.</a:t>
            </a:r>
          </a:p>
        </p:txBody>
      </p:sp>
      <p:sp>
        <p:nvSpPr>
          <p:cNvPr id="5" name="">
            <a:extLst xmlns:a="http://schemas.openxmlformats.org/drawingml/2006/main">
              <a:ext uri="{FF2B5EF4-FFF2-40B4-BE49-F238E27FC236}">
                <a16:creationId xmlns:a16="http://schemas.microsoft.com/office/drawing/2014/main" id="{0AC53E3A-9476-4F85-A1E8-E675CCDDC830}"/>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25" b="0">
                <a:solidFill>
                  <a:srgbClr val="526569"/>
                </a:solidFill>
                <a:latin typeface="Bitstream Charter"/>
                <a:ea typeface="Bitstream Charter"/>
                <a:cs typeface="Bitstream Charter"/>
              </a:rPr>
              <a:t>300 m September values are not stop measurements. October field photos show context, not measured use or shade.</a:t>
            </a:r>
          </a:p>
        </p:txBody>
      </p:sp>
    </p:spTree>
    <p:extLst>
      <p:ext uri="{BB962C8B-B14F-4D97-AF65-F5344CB8AC3E}">
        <p14:creationId xmlns:p14="http://schemas.microsoft.com/office/powerpoint/2010/main" val="1884030217"/>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185394-0381-4E84-A1BC-31C66FA308B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Open satellite data and mapped context</a:t>
            </a:r>
          </a:p>
        </p:txBody>
      </p:sp>
      <p:sp>
        <p:nvSpPr>
          <p:cNvPr id="2" name="">
            <a:extLst xmlns:a="http://schemas.openxmlformats.org/drawingml/2006/main">
              <a:ext uri="{FF2B5EF4-FFF2-40B4-BE49-F238E27FC236}">
                <a16:creationId xmlns:a16="http://schemas.microsoft.com/office/drawing/2014/main" id="{EB787BBD-C9C0-439E-8013-25422BFA7B2A}"/>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Sentinel-2: green-pixel indicators from 5, 15 and 30 September 2026.</a:t>
            </a:r>
          </a:p>
        </p:txBody>
      </p:sp>
      <p:sp>
        <p:nvSpPr>
          <p:cNvPr id="3" name="">
            <a:extLst xmlns:a="http://schemas.openxmlformats.org/drawingml/2006/main">
              <a:ext uri="{FF2B5EF4-FFF2-40B4-BE49-F238E27FC236}">
                <a16:creationId xmlns:a16="http://schemas.microsoft.com/office/drawing/2014/main" id="{DB8B1E9F-CAB5-401A-8B40-5421C993D9D9}"/>
              </a:ext>
            </a:extLst>
          </p:cNvPr>
          <p:cNvSpPr>
            <a:spLocks xmlns:a="http://schemas.openxmlformats.org/drawingml/2006/main" noGrp="1"/>
          </p:cNvSpPr>
          <p:nvPr/>
        </p:nvSpPr>
        <p:spPr>
          <a:xfrm xmlns:a="http://schemas.openxmlformats.org/drawingml/2006/main">
            <a:off x="609600" y="25241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Landsat: surface temperature from 14 and 30 September. The 6 September scene fails coverage QA.</a:t>
            </a:r>
          </a:p>
        </p:txBody>
      </p:sp>
      <p:sp>
        <p:nvSpPr>
          <p:cNvPr id="4" name="">
            <a:extLst xmlns:a="http://schemas.openxmlformats.org/drawingml/2006/main">
              <a:ext uri="{FF2B5EF4-FFF2-40B4-BE49-F238E27FC236}">
                <a16:creationId xmlns:a16="http://schemas.microsoft.com/office/drawing/2014/main" id="{E17FDA68-B5F2-4407-8B2C-A57F0764E164}"/>
              </a:ext>
            </a:extLst>
          </p:cNvPr>
          <p:cNvSpPr>
            <a:spLocks xmlns:a="http://schemas.openxmlformats.org/drawingml/2006/main" noGrp="1"/>
          </p:cNvSpPr>
          <p:nvPr/>
        </p:nvSpPr>
        <p:spPr>
          <a:xfrm xmlns:a="http://schemas.openxmlformats.org/drawingml/2006/main">
            <a:off x="609600" y="3476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WorldCover 2021: historical land-cover context. OpenStreetMap: contributed building footprints downloaded 5 October.</a:t>
            </a:r>
          </a:p>
        </p:txBody>
      </p:sp>
      <p:sp>
        <p:nvSpPr>
          <p:cNvPr id="5" name="">
            <a:extLst xmlns:a="http://schemas.openxmlformats.org/drawingml/2006/main">
              <a:ext uri="{FF2B5EF4-FFF2-40B4-BE49-F238E27FC236}">
                <a16:creationId xmlns:a16="http://schemas.microsoft.com/office/drawing/2014/main" id="{B551F024-6130-4189-BA6B-37964BCA3C6C}"/>
              </a:ext>
            </a:extLst>
          </p:cNvPr>
          <p:cNvSpPr>
            <a:spLocks xmlns:a="http://schemas.openxmlformats.org/drawingml/2006/main" noGrp="1"/>
          </p:cNvSpPr>
          <p:nvPr/>
        </p:nvSpPr>
        <p:spPr>
          <a:xfrm xmlns:a="http://schemas.openxmlformats.org/drawingml/2006/main">
            <a:off x="609600" y="44291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Field photos: 8 October 2026; thermal data: September. No hyperspectral, 813 or proprietary VHR data.</a:t>
            </a:r>
          </a:p>
        </p:txBody>
      </p:sp>
      <p:sp>
        <p:nvSpPr>
          <p:cNvPr id="6" name="">
            <a:extLst xmlns:a="http://schemas.openxmlformats.org/drawingml/2006/main">
              <a:ext uri="{FF2B5EF4-FFF2-40B4-BE49-F238E27FC236}">
                <a16:creationId xmlns:a16="http://schemas.microsoft.com/office/drawing/2014/main" id="{F882663A-BCDB-45A6-B0FA-8A4ECCC8BF1F}"/>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25" b="0">
                <a:solidFill>
                  <a:srgbClr val="526569"/>
                </a:solidFill>
                <a:latin typeface="Bitstream Charter"/>
                <a:ea typeface="Bitstream Charter"/>
                <a:cs typeface="Bitstream Charter"/>
              </a:rPr>
              <a:t>Thermal native detail is about 100 m, delivered on a 30 m grid. We report 300 m cells.</a:t>
            </a:r>
          </a:p>
        </p:txBody>
      </p:sp>
    </p:spTree>
    <p:extLst>
      <p:ext uri="{BB962C8B-B14F-4D97-AF65-F5344CB8AC3E}">
        <p14:creationId xmlns:p14="http://schemas.microsoft.com/office/powerpoint/2010/main" val="1620130725"/>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cxnSp>
        <p:nvCxnSpPr>
          <p:cNvPr id="26" name=""/>
          <p:cNvCxnSpPr>
            <a:stCxn xmlns:a="http://schemas.openxmlformats.org/drawingml/2006/main" id="8" idx="1"/>
            <a:endCxn xmlns:a="http://schemas.openxmlformats.org/drawingml/2006/main" id="10" idx="3"/>
          </p:cNvCxnSpPr>
          <p:nvPr/>
        </p:nvCxnSpPr>
        <p:spPr>
          <a:xfrm xmlns:a="http://schemas.openxmlformats.org/drawingml/2006/main" flipH="1">
            <a:off x="7667625" y="4714875"/>
            <a:ext cx="771525" cy="0"/>
          </a:xfrm>
          <a:prstGeom xmlns:a="http://schemas.openxmlformats.org/drawingml/2006/main" prst="straightConnector1">
            <a:avLst/>
          </a:prstGeom>
          <a:ln xmlns:a="http://schemas.openxmlformats.org/drawingml/2006/main" w="28575">
            <a:solidFill>
              <a:srgbClr val="163D46"/>
            </a:solidFill>
            <a:tailEnd type="arrow" w="med" len="med"/>
          </a:ln>
        </p:spPr>
      </p:cxnSp>
      <p:cxnSp>
        <p:nvCxnSpPr>
          <p:cNvPr id="27" name=""/>
          <p:cNvCxnSpPr>
            <a:stCxn xmlns:a="http://schemas.openxmlformats.org/drawingml/2006/main" id="6" idx="2"/>
            <a:endCxn xmlns:a="http://schemas.openxmlformats.org/drawingml/2006/main" id="8" idx="0"/>
          </p:cNvCxnSpPr>
          <p:nvPr/>
        </p:nvCxnSpPr>
        <p:spPr>
          <a:xfrm xmlns:a="http://schemas.openxmlformats.org/drawingml/2006/main">
            <a:off x="10010775" y="3238500"/>
            <a:ext cx="0" cy="714375"/>
          </a:xfrm>
          <a:prstGeom xmlns:a="http://schemas.openxmlformats.org/drawingml/2006/main" prst="straightConnector1">
            <a:avLst/>
          </a:prstGeom>
          <a:ln xmlns:a="http://schemas.openxmlformats.org/drawingml/2006/main" w="28575">
            <a:solidFill>
              <a:srgbClr val="163D46"/>
            </a:solidFill>
            <a:tailEnd type="arrow" w="med" len="med"/>
          </a:ln>
        </p:spPr>
      </p:cxnSp>
      <p:cxnSp>
        <p:nvCxnSpPr>
          <p:cNvPr id="28" name=""/>
          <p:cNvCxnSpPr>
            <a:stCxn xmlns:a="http://schemas.openxmlformats.org/drawingml/2006/main" id="4" idx="3"/>
            <a:endCxn xmlns:a="http://schemas.openxmlformats.org/drawingml/2006/main" id="6" idx="1"/>
          </p:cNvCxnSpPr>
          <p:nvPr/>
        </p:nvCxnSpPr>
        <p:spPr>
          <a:xfrm xmlns:a="http://schemas.openxmlformats.org/drawingml/2006/main">
            <a:off x="7667625" y="2476500"/>
            <a:ext cx="771525" cy="0"/>
          </a:xfrm>
          <a:prstGeom xmlns:a="http://schemas.openxmlformats.org/drawingml/2006/main" prst="straightConnector1">
            <a:avLst/>
          </a:prstGeom>
          <a:ln xmlns:a="http://schemas.openxmlformats.org/drawingml/2006/main" w="28575">
            <a:solidFill>
              <a:srgbClr val="163D46"/>
            </a:solidFill>
            <a:tailEnd type="arrow" w="med" len="med"/>
          </a:ln>
        </p:spPr>
      </p:cxnSp>
      <p:cxnSp>
        <p:nvCxnSpPr>
          <p:cNvPr id="29" name=""/>
          <p:cNvCxnSpPr>
            <a:stCxn xmlns:a="http://schemas.openxmlformats.org/drawingml/2006/main" id="2" idx="3"/>
            <a:endCxn xmlns:a="http://schemas.openxmlformats.org/drawingml/2006/main" id="4" idx="1"/>
          </p:cNvCxnSpPr>
          <p:nvPr/>
        </p:nvCxnSpPr>
        <p:spPr>
          <a:xfrm xmlns:a="http://schemas.openxmlformats.org/drawingml/2006/main">
            <a:off x="3752850" y="2476500"/>
            <a:ext cx="771525" cy="0"/>
          </a:xfrm>
          <a:prstGeom xmlns:a="http://schemas.openxmlformats.org/drawingml/2006/main" prst="straightConnector1">
            <a:avLst/>
          </a:prstGeom>
          <a:ln xmlns:a="http://schemas.openxmlformats.org/drawingml/2006/main" w="28575">
            <a:solidFill>
              <a:srgbClr val="163D46"/>
            </a:solidFill>
            <a:tailEnd type="arrow" w="med" len="med"/>
          </a:ln>
        </p:spPr>
      </p:cxnSp>
      <p:sp>
        <p:nvSpPr>
          <p:cNvPr id="21" name="">
            <a:extLst xmlns:a="http://schemas.openxmlformats.org/drawingml/2006/main">
              <a:ext uri="{FF2B5EF4-FFF2-40B4-BE49-F238E27FC236}">
                <a16:creationId xmlns:a16="http://schemas.microsoft.com/office/drawing/2014/main" id="{E4375B69-4F18-4E4D-89A2-7DB527A5C92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From source crops to an inspectable shortlist</a:t>
            </a:r>
          </a:p>
        </p:txBody>
      </p:sp>
      <p:sp>
        <p:nvSpPr>
          <p:cNvPr id="2" name="">
            <a:extLst xmlns:a="http://schemas.openxmlformats.org/drawingml/2006/main">
              <a:ext uri="{FF2B5EF4-FFF2-40B4-BE49-F238E27FC236}">
                <a16:creationId xmlns:a16="http://schemas.microsoft.com/office/drawing/2014/main" id="{6087E326-D507-47DF-BDFE-AD92737B940F}"/>
              </a:ext>
            </a:extLst>
          </p:cNvPr>
          <p:cNvSpPr>
            <a:spLocks xmlns:a="http://schemas.openxmlformats.org/drawingml/2006/main" noGrp="1"/>
          </p:cNvSpPr>
          <p:nvPr/>
        </p:nvSpPr>
        <p:spPr>
          <a:xfrm xmlns:a="http://schemas.openxmlformats.org/drawingml/2006/main">
            <a:off x="609600" y="1714500"/>
            <a:ext cx="3143250" cy="1524000"/>
          </a:xfrm>
          <a:prstGeom xmlns:a="http://schemas.openxmlformats.org/drawingml/2006/main" prst="rect">
            <a:avLst/>
          </a:prstGeom>
          <a:solidFill xmlns:a="http://schemas.openxmlformats.org/drawingml/2006/main">
            <a:srgbClr val="E4EBE8"/>
          </a:solidFill>
          <a:ln xmlns:a="http://schemas.openxmlformats.org/drawingml/2006/main" w="9525">
            <a:solidFill>
              <a:srgbClr val="75908A"/>
            </a:solidFill>
          </a:ln>
        </p:spPr>
      </p:sp>
      <p:sp>
        <p:nvSpPr>
          <p:cNvPr id="3" name="">
            <a:extLst xmlns:a="http://schemas.openxmlformats.org/drawingml/2006/main">
              <a:ext uri="{FF2B5EF4-FFF2-40B4-BE49-F238E27FC236}">
                <a16:creationId xmlns:a16="http://schemas.microsoft.com/office/drawing/2014/main" id="{48A88E80-7AF5-444E-82C1-751EA33687D6}"/>
              </a:ext>
            </a:extLst>
          </p:cNvPr>
          <p:cNvSpPr>
            <a:spLocks xmlns:a="http://schemas.openxmlformats.org/drawingml/2006/main" noGrp="1"/>
          </p:cNvSpPr>
          <p:nvPr/>
        </p:nvSpPr>
        <p:spPr>
          <a:xfrm xmlns:a="http://schemas.openxmlformats.org/drawingml/2006/main">
            <a:off x="781050" y="1914525"/>
            <a:ext cx="28003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Packaged inputs</a:t>
            </a:r>
          </a:p>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Satellite crops</a:t>
            </a:r>
          </a:p>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 mapped context</a:t>
            </a:r>
          </a:p>
        </p:txBody>
      </p:sp>
      <p:sp>
        <p:nvSpPr>
          <p:cNvPr id="4" name="">
            <a:extLst xmlns:a="http://schemas.openxmlformats.org/drawingml/2006/main">
              <a:ext uri="{FF2B5EF4-FFF2-40B4-BE49-F238E27FC236}">
                <a16:creationId xmlns:a16="http://schemas.microsoft.com/office/drawing/2014/main" id="{E3A7F2AF-DD1A-4910-9A5C-EDD316566E4F}"/>
              </a:ext>
            </a:extLst>
          </p:cNvPr>
          <p:cNvSpPr>
            <a:spLocks xmlns:a="http://schemas.openxmlformats.org/drawingml/2006/main" noGrp="1"/>
          </p:cNvSpPr>
          <p:nvPr/>
        </p:nvSpPr>
        <p:spPr>
          <a:xfrm xmlns:a="http://schemas.openxmlformats.org/drawingml/2006/main">
            <a:off x="4524375" y="1714500"/>
            <a:ext cx="3143250" cy="1524000"/>
          </a:xfrm>
          <a:prstGeom xmlns:a="http://schemas.openxmlformats.org/drawingml/2006/main" prst="rect">
            <a:avLst/>
          </a:prstGeom>
          <a:solidFill xmlns:a="http://schemas.openxmlformats.org/drawingml/2006/main">
            <a:srgbClr val="E4EBE8"/>
          </a:solidFill>
          <a:ln xmlns:a="http://schemas.openxmlformats.org/drawingml/2006/main" w="9525">
            <a:solidFill>
              <a:srgbClr val="75908A"/>
            </a:solidFill>
          </a:ln>
        </p:spPr>
      </p:sp>
      <p:sp>
        <p:nvSpPr>
          <p:cNvPr id="5" name="">
            <a:extLst xmlns:a="http://schemas.openxmlformats.org/drawingml/2006/main">
              <a:ext uri="{FF2B5EF4-FFF2-40B4-BE49-F238E27FC236}">
                <a16:creationId xmlns:a16="http://schemas.microsoft.com/office/drawing/2014/main" id="{E8797D63-6BB0-46C6-9B5C-3173C9E723EB}"/>
              </a:ext>
            </a:extLst>
          </p:cNvPr>
          <p:cNvSpPr>
            <a:spLocks xmlns:a="http://schemas.openxmlformats.org/drawingml/2006/main" noGrp="1"/>
          </p:cNvSpPr>
          <p:nvPr/>
        </p:nvSpPr>
        <p:spPr>
          <a:xfrm xmlns:a="http://schemas.openxmlformats.org/drawingml/2006/main">
            <a:off x="4695825" y="1914525"/>
            <a:ext cx="28003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Quality screening</a:t>
            </a:r>
          </a:p>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Cloud, coast and</a:t>
            </a:r>
          </a:p>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common support</a:t>
            </a:r>
          </a:p>
        </p:txBody>
      </p:sp>
      <p:sp>
        <p:nvSpPr>
          <p:cNvPr id="6" name="">
            <a:extLst xmlns:a="http://schemas.openxmlformats.org/drawingml/2006/main">
              <a:ext uri="{FF2B5EF4-FFF2-40B4-BE49-F238E27FC236}">
                <a16:creationId xmlns:a16="http://schemas.microsoft.com/office/drawing/2014/main" id="{1AB3953B-3BE7-4280-83CD-D0E31229CED8}"/>
              </a:ext>
            </a:extLst>
          </p:cNvPr>
          <p:cNvSpPr>
            <a:spLocks xmlns:a="http://schemas.openxmlformats.org/drawingml/2006/main" noGrp="1"/>
          </p:cNvSpPr>
          <p:nvPr/>
        </p:nvSpPr>
        <p:spPr>
          <a:xfrm xmlns:a="http://schemas.openxmlformats.org/drawingml/2006/main">
            <a:off x="8439150" y="1714500"/>
            <a:ext cx="3143250" cy="1524000"/>
          </a:xfrm>
          <a:prstGeom xmlns:a="http://schemas.openxmlformats.org/drawingml/2006/main" prst="rect">
            <a:avLst/>
          </a:prstGeom>
          <a:solidFill xmlns:a="http://schemas.openxmlformats.org/drawingml/2006/main">
            <a:srgbClr val="E4EBE8"/>
          </a:solidFill>
          <a:ln xmlns:a="http://schemas.openxmlformats.org/drawingml/2006/main" w="9525">
            <a:solidFill>
              <a:srgbClr val="75908A"/>
            </a:solidFill>
          </a:ln>
        </p:spPr>
      </p:sp>
      <p:sp>
        <p:nvSpPr>
          <p:cNvPr id="7" name="">
            <a:extLst xmlns:a="http://schemas.openxmlformats.org/drawingml/2006/main">
              <a:ext uri="{FF2B5EF4-FFF2-40B4-BE49-F238E27FC236}">
                <a16:creationId xmlns:a16="http://schemas.microsoft.com/office/drawing/2014/main" id="{38ABB012-1D88-455D-B863-6BDE76677DB4}"/>
              </a:ext>
            </a:extLst>
          </p:cNvPr>
          <p:cNvSpPr>
            <a:spLocks xmlns:a="http://schemas.openxmlformats.org/drawingml/2006/main" noGrp="1"/>
          </p:cNvSpPr>
          <p:nvPr/>
        </p:nvSpPr>
        <p:spPr>
          <a:xfrm xmlns:a="http://schemas.openxmlformats.org/drawingml/2006/main">
            <a:off x="8610600" y="1914525"/>
            <a:ext cx="28003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300 m indicators</a:t>
            </a:r>
          </a:p>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Temperature, green</a:t>
            </a:r>
          </a:p>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and buildings</a:t>
            </a:r>
          </a:p>
        </p:txBody>
      </p:sp>
      <p:sp>
        <p:nvSpPr>
          <p:cNvPr id="8" name="">
            <a:extLst xmlns:a="http://schemas.openxmlformats.org/drawingml/2006/main">
              <a:ext uri="{FF2B5EF4-FFF2-40B4-BE49-F238E27FC236}">
                <a16:creationId xmlns:a16="http://schemas.microsoft.com/office/drawing/2014/main" id="{2805C9AC-A423-4BEE-A12F-6C450D857FB2}"/>
              </a:ext>
            </a:extLst>
          </p:cNvPr>
          <p:cNvSpPr>
            <a:spLocks xmlns:a="http://schemas.openxmlformats.org/drawingml/2006/main" noGrp="1"/>
          </p:cNvSpPr>
          <p:nvPr/>
        </p:nvSpPr>
        <p:spPr>
          <a:xfrm xmlns:a="http://schemas.openxmlformats.org/drawingml/2006/main">
            <a:off x="8439150" y="3952875"/>
            <a:ext cx="3143250" cy="1524000"/>
          </a:xfrm>
          <a:prstGeom xmlns:a="http://schemas.openxmlformats.org/drawingml/2006/main" prst="rect">
            <a:avLst/>
          </a:prstGeom>
          <a:solidFill xmlns:a="http://schemas.openxmlformats.org/drawingml/2006/main">
            <a:srgbClr val="E4EBE8"/>
          </a:solidFill>
          <a:ln xmlns:a="http://schemas.openxmlformats.org/drawingml/2006/main" w="9525">
            <a:solidFill>
              <a:srgbClr val="75908A"/>
            </a:solidFill>
          </a:ln>
        </p:spPr>
      </p:sp>
      <p:sp>
        <p:nvSpPr>
          <p:cNvPr id="9" name="">
            <a:extLst xmlns:a="http://schemas.openxmlformats.org/drawingml/2006/main">
              <a:ext uri="{FF2B5EF4-FFF2-40B4-BE49-F238E27FC236}">
                <a16:creationId xmlns:a16="http://schemas.microsoft.com/office/drawing/2014/main" id="{707136AB-A26C-40A7-A3AE-31706D60A767}"/>
              </a:ext>
            </a:extLst>
          </p:cNvPr>
          <p:cNvSpPr>
            <a:spLocks xmlns:a="http://schemas.openxmlformats.org/drawingml/2006/main" noGrp="1"/>
          </p:cNvSpPr>
          <p:nvPr/>
        </p:nvSpPr>
        <p:spPr>
          <a:xfrm xmlns:a="http://schemas.openxmlformats.org/drawingml/2006/main">
            <a:off x="8610600" y="4152900"/>
            <a:ext cx="28003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Relative ranking</a:t>
            </a:r>
          </a:p>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Candidate rules</a:t>
            </a:r>
          </a:p>
          <a:p xmlns:a="http://schemas.openxmlformats.org/drawingml/2006/main">
            <a:pPr>
              <a:buNone/>
              <a:defRPr sz="2175" b="0">
                <a:solidFill>
                  <a:srgbClr val="163D46"/>
                </a:solidFill>
                <a:latin typeface="Bitstream Charter"/>
                <a:ea typeface="Bitstream Charter"/>
                <a:cs typeface="Bitstream Charter"/>
              </a:defRPr>
            </a:pPr>
            <a:r>
              <a:rPr sz="2175" b="0">
                <a:solidFill>
                  <a:srgbClr val="163D46"/>
                </a:solidFill>
                <a:latin typeface="Bitstream Charter"/>
                <a:ea typeface="Bitstream Charter"/>
                <a:cs typeface="Bitstream Charter"/>
              </a:rPr>
              <a:t>+ 13 scenarios</a:t>
            </a:r>
          </a:p>
        </p:txBody>
      </p:sp>
      <p:sp>
        <p:nvSpPr>
          <p:cNvPr id="10" name="">
            <a:extLst xmlns:a="http://schemas.openxmlformats.org/drawingml/2006/main">
              <a:ext uri="{FF2B5EF4-FFF2-40B4-BE49-F238E27FC236}">
                <a16:creationId xmlns:a16="http://schemas.microsoft.com/office/drawing/2014/main" id="{9A7641B5-FF23-41F4-89C0-89CD8780AC63}"/>
              </a:ext>
            </a:extLst>
          </p:cNvPr>
          <p:cNvSpPr>
            <a:spLocks xmlns:a="http://schemas.openxmlformats.org/drawingml/2006/main" noGrp="1"/>
          </p:cNvSpPr>
          <p:nvPr/>
        </p:nvSpPr>
        <p:spPr>
          <a:xfrm xmlns:a="http://schemas.openxmlformats.org/drawingml/2006/main">
            <a:off x="4524375" y="3952875"/>
            <a:ext cx="3143250" cy="1524000"/>
          </a:xfrm>
          <a:prstGeom xmlns:a="http://schemas.openxmlformats.org/drawingml/2006/main" prst="rect">
            <a:avLst/>
          </a:prstGeom>
          <a:solidFill xmlns:a="http://schemas.openxmlformats.org/drawingml/2006/main">
            <a:srgbClr val="DCE9E1"/>
          </a:solidFill>
          <a:ln xmlns:a="http://schemas.openxmlformats.org/drawingml/2006/main" w="9525">
            <a:solidFill>
              <a:srgbClr val="75908A"/>
            </a:solidFill>
          </a:ln>
        </p:spPr>
      </p:sp>
      <p:sp>
        <p:nvSpPr>
          <p:cNvPr id="11" name="">
            <a:extLst xmlns:a="http://schemas.openxmlformats.org/drawingml/2006/main">
              <a:ext uri="{FF2B5EF4-FFF2-40B4-BE49-F238E27FC236}">
                <a16:creationId xmlns:a16="http://schemas.microsoft.com/office/drawing/2014/main" id="{D8C27629-2523-40CB-8A87-E4ED447B4F4C}"/>
              </a:ext>
            </a:extLst>
          </p:cNvPr>
          <p:cNvSpPr>
            <a:spLocks xmlns:a="http://schemas.openxmlformats.org/drawingml/2006/main" noGrp="1"/>
          </p:cNvSpPr>
          <p:nvPr/>
        </p:nvSpPr>
        <p:spPr>
          <a:xfrm xmlns:a="http://schemas.openxmlformats.org/drawingml/2006/main">
            <a:off x="4695825" y="4152900"/>
            <a:ext cx="28003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D46"/>
                </a:solidFill>
                <a:latin typeface="Bitstream Charter"/>
                <a:ea typeface="Bitstream Charter"/>
                <a:cs typeface="Bitstream Charter"/>
              </a:defRPr>
            </a:pPr>
            <a:r>
              <a:rPr sz="2175" b="1">
                <a:solidFill>
                  <a:srgbClr val="163D46"/>
                </a:solidFill>
                <a:latin typeface="Bitstream Charter"/>
                <a:ea typeface="Bitstream Charter"/>
                <a:cs typeface="Bitstream Charter"/>
              </a:rPr>
              <a:t>Local review + map</a:t>
            </a:r>
          </a:p>
          <a:p xmlns:a="http://schemas.openxmlformats.org/drawingml/2006/main">
            <a:pPr>
              <a:buNone/>
              <a:defRPr sz="2175" b="1">
                <a:solidFill>
                  <a:srgbClr val="163D46"/>
                </a:solidFill>
                <a:latin typeface="Bitstream Charter"/>
                <a:ea typeface="Bitstream Charter"/>
                <a:cs typeface="Bitstream Charter"/>
              </a:defRPr>
            </a:pPr>
            <a:r>
              <a:rPr sz="2175" b="1">
                <a:solidFill>
                  <a:srgbClr val="163D46"/>
                </a:solidFill>
                <a:latin typeface="Bitstream Charter"/>
                <a:ea typeface="Bitstream Charter"/>
                <a:cs typeface="Bitstream Charter"/>
              </a:rPr>
              <a:t>Use and shade</a:t>
            </a:r>
          </a:p>
          <a:p xmlns:a="http://schemas.openxmlformats.org/drawingml/2006/main">
            <a:pPr>
              <a:buNone/>
              <a:defRPr sz="2175" b="1">
                <a:solidFill>
                  <a:srgbClr val="163D46"/>
                </a:solidFill>
                <a:latin typeface="Bitstream Charter"/>
                <a:ea typeface="Bitstream Charter"/>
                <a:cs typeface="Bitstream Charter"/>
              </a:defRPr>
            </a:pPr>
            <a:r>
              <a:rPr sz="2175" b="1">
                <a:solidFill>
                  <a:srgbClr val="163D46"/>
                </a:solidFill>
                <a:latin typeface="Bitstream Charter"/>
                <a:ea typeface="Bitstream Charter"/>
                <a:cs typeface="Bitstream Charter"/>
              </a:rPr>
              <a:t>Site assessment</a:t>
            </a:r>
          </a:p>
        </p:txBody>
      </p:sp>
      <p:sp>
        <p:nvSpPr>
          <p:cNvPr id="16" name="">
            <a:extLst xmlns:a="http://schemas.openxmlformats.org/drawingml/2006/main">
              <a:ext uri="{FF2B5EF4-FFF2-40B4-BE49-F238E27FC236}">
                <a16:creationId xmlns:a16="http://schemas.microsoft.com/office/drawing/2014/main" id="{7BF9A4EA-640C-445F-88C2-A729442F48B4}"/>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25" b="0">
                <a:solidFill>
                  <a:srgbClr val="526569"/>
                </a:solidFill>
                <a:latin typeface="Bitstream Charter"/>
                <a:ea typeface="Bitstream Charter"/>
                <a:cs typeface="Bitstream Charter"/>
              </a:rPr>
              <a:t>External AI land cover: WorldCover for heat screening; Dynamic World in a separate experiment. QA/ranking are rule based. No new model trained.</a:t>
            </a:r>
          </a:p>
        </p:txBody>
      </p:sp>
    </p:spTree>
    <p:extLst>
      <p:ext uri="{BB962C8B-B14F-4D97-AF65-F5344CB8AC3E}">
        <p14:creationId xmlns:p14="http://schemas.microsoft.com/office/powerpoint/2010/main" val="1986820812"/>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7D5B82B-6175-48B7-8B53-BE6FEDC9D12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Al Khor presentation examples</a:t>
            </a:r>
          </a:p>
        </p:txBody>
      </p:sp>
      <p:sp>
        <p:nvSpPr>
          <p:cNvPr id="3" name="">
            <a:extLst xmlns:a="http://schemas.openxmlformats.org/drawingml/2006/main">
              <a:ext uri="{FF2B5EF4-FFF2-40B4-BE49-F238E27FC236}">
                <a16:creationId xmlns:a16="http://schemas.microsoft.com/office/drawing/2014/main" id="{0165C82E-F42A-4AFF-9F0C-6BB2D3550F7E}"/>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00" b="0">
                <a:solidFill>
                  <a:srgbClr val="526569"/>
                </a:solidFill>
                <a:latin typeface="Bitstream Charter"/>
                <a:ea typeface="Bitstream Charter"/>
                <a:cs typeface="Bitstream Charter"/>
              </a:rPr>
              <a:t>Team-selected examples; all 1,111 observed cells and 373 candidates remain. The satellite top three are unchanged.</a:t>
            </a:r>
          </a:p>
        </p:txBody>
      </p:sp>
      <p:pic xmlns:a="http://schemas.openxmlformats.org/drawingml/2006/main" xmlns:r="http://schemas.openxmlformats.org/officeDocument/2006/relationships">
        <p:nvPicPr>
          <p:cNvPr id="5" name="V04-23-01.jpeg" descr="V04-23 | Bus-stop road; V04-23-01.jpeg; 8 October 2026 | 13:00–14:00 Qatar (UTC+3) | Shared capture window; Photographer: Abdulrahman Almohannadi | Confirmed by Nasser, not EXIF | Exact per-file time: Unknown"/>
          <p:cNvPicPr>
            <a:picLocks noChangeAspect="1"/>
          </p:cNvPicPr>
          <p:nvPr/>
        </p:nvPicPr>
        <p:blipFill>
          <a:blip r:embed="rId5"/>
          <a:stretch>
            <a:fillRect/>
          </a:stretch>
        </p:blipFill>
        <p:spPr>
          <a:xfrm>
            <a:off x="609904" y="2314575"/>
            <a:ext cx="3474720" cy="1954529"/>
          </a:xfrm>
          <a:prstGeom prst="rect">
            <a:avLst/>
          </a:prstGeom>
        </p:spPr>
      </p:pic>
      <p:sp xmlns:a="http://schemas.openxmlformats.org/drawingml/2006/main">
        <p:nvSpPr>
          <p:cNvPr id="6" name="TextBox 5"/>
          <p:cNvSpPr txBox="1"/>
          <p:nvPr/>
        </p:nvSpPr>
        <p:spPr>
          <a:xfrm>
            <a:off x="609904" y="1353312"/>
            <a:ext cx="3474720" cy="320040"/>
          </a:xfrm>
          <a:prstGeom prst="rect">
            <a:avLst/>
          </a:prstGeom>
          <a:noFill/>
        </p:spPr>
        <p:txBody>
          <a:bodyPr wrap="square" lIns="0" rIns="0" tIns="0" bIns="0" anchor="t">
            <a:spAutoFit/>
          </a:bodyPr>
          <a:lstStyle/>
          <a:p>
            <a:pPr algn="l">
              <a:lnSpc>
                <a:spcPct val="120000"/>
              </a:lnSpc>
              <a:spcAft>
                <a:spcPts val="0"/>
              </a:spcAft>
            </a:pPr>
            <a:r>
              <a:rPr sz="1800" b="1">
                <a:solidFill>
                  <a:srgbClr val="163D46"/>
                </a:solidFill>
                <a:latin typeface="Bitstream Charter"/>
              </a:rPr>
              <a:t>V04-23 | Bus-stop road</a:t>
            </a:r>
          </a:p>
        </p:txBody>
      </p:sp>
      <p:sp xmlns:a="http://schemas.openxmlformats.org/drawingml/2006/main">
        <p:nvSpPr>
          <p:cNvPr id="7" name="TextBox 6"/>
          <p:cNvSpPr txBox="1"/>
          <p:nvPr/>
        </p:nvSpPr>
        <p:spPr>
          <a:xfrm>
            <a:off x="609904" y="4956048"/>
            <a:ext cx="3474720" cy="448056"/>
          </a:xfrm>
          <a:prstGeom prst="rect">
            <a:avLst/>
          </a:prstGeom>
          <a:noFill/>
        </p:spPr>
        <p:txBody>
          <a:bodyPr wrap="square" lIns="0" rIns="0" tIns="0" bIns="0" anchor="t">
            <a:spAutoFit/>
          </a:bodyPr>
          <a:lstStyle/>
          <a:p>
            <a:pPr algn="l">
              <a:lnSpc>
                <a:spcPct val="120000"/>
              </a:lnSpc>
              <a:spcAft>
                <a:spcPts val="0"/>
              </a:spcAft>
            </a:pPr>
            <a:r>
              <a:rPr sz="1250" b="0">
                <a:solidFill>
                  <a:srgbClr val="213846"/>
                </a:solidFill>
                <a:latin typeface="Bitstream Charter"/>
              </a:rPr>
              <a:t>Trees and stop sign; no shelter visible.</a:t>
            </a:r>
          </a:p>
        </p:txBody>
      </p:sp>
      <p:pic xmlns:a="http://schemas.openxmlformats.org/drawingml/2006/main" xmlns:r="http://schemas.openxmlformats.org/officeDocument/2006/relationships">
        <p:nvPicPr>
          <p:cNvPr id="8" name="V28-17-04.jpeg" descr="V28-17 | Stadium parking; V28-17-04.jpeg; 8 October 2026 | 13:00–14:00 Qatar (UTC+3) | Shared capture window; Photographer: Abdulrahman Almohannadi | Confirmed by Nasser, not EXIF | Exact per-file time: Unknown"/>
          <p:cNvPicPr>
            <a:picLocks noChangeAspect="1"/>
          </p:cNvPicPr>
          <p:nvPr/>
        </p:nvPicPr>
        <p:blipFill>
          <a:blip r:embed="rId6"/>
          <a:stretch>
            <a:fillRect/>
          </a:stretch>
        </p:blipFill>
        <p:spPr>
          <a:xfrm>
            <a:off x="5196192" y="1691640"/>
            <a:ext cx="1800225" cy="3200400"/>
          </a:xfrm>
          <a:prstGeom prst="rect">
            <a:avLst/>
          </a:prstGeom>
        </p:spPr>
      </p:pic>
      <p:sp xmlns:a="http://schemas.openxmlformats.org/drawingml/2006/main">
        <p:nvSpPr>
          <p:cNvPr id="9" name="TextBox 8"/>
          <p:cNvSpPr txBox="1"/>
          <p:nvPr/>
        </p:nvSpPr>
        <p:spPr>
          <a:xfrm>
            <a:off x="4358944" y="1353312"/>
            <a:ext cx="3474720" cy="320040"/>
          </a:xfrm>
          <a:prstGeom prst="rect">
            <a:avLst/>
          </a:prstGeom>
          <a:noFill/>
        </p:spPr>
        <p:txBody>
          <a:bodyPr wrap="square" lIns="0" rIns="0" tIns="0" bIns="0" anchor="t">
            <a:spAutoFit/>
          </a:bodyPr>
          <a:lstStyle/>
          <a:p>
            <a:pPr algn="l">
              <a:lnSpc>
                <a:spcPct val="120000"/>
              </a:lnSpc>
              <a:spcAft>
                <a:spcPts val="0"/>
              </a:spcAft>
            </a:pPr>
            <a:r>
              <a:rPr sz="1800" b="1">
                <a:solidFill>
                  <a:srgbClr val="163D46"/>
                </a:solidFill>
                <a:latin typeface="Bitstream Charter"/>
              </a:rPr>
              <a:t>V28-17 | Stadium parking</a:t>
            </a:r>
          </a:p>
        </p:txBody>
      </p:sp>
      <p:sp xmlns:a="http://schemas.openxmlformats.org/drawingml/2006/main">
        <p:nvSpPr>
          <p:cNvPr id="10" name="TextBox 9"/>
          <p:cNvSpPr txBox="1"/>
          <p:nvPr/>
        </p:nvSpPr>
        <p:spPr>
          <a:xfrm>
            <a:off x="4358944" y="4956048"/>
            <a:ext cx="3474720" cy="448056"/>
          </a:xfrm>
          <a:prstGeom prst="rect">
            <a:avLst/>
          </a:prstGeom>
          <a:noFill/>
        </p:spPr>
        <p:txBody>
          <a:bodyPr wrap="square" lIns="0" rIns="0" tIns="0" bIns="0" anchor="t">
            <a:spAutoFit/>
          </a:bodyPr>
          <a:lstStyle/>
          <a:p>
            <a:pPr algn="l">
              <a:lnSpc>
                <a:spcPct val="120000"/>
              </a:lnSpc>
              <a:spcAft>
                <a:spcPts val="0"/>
              </a:spcAft>
            </a:pPr>
            <a:r>
              <a:rPr sz="1250" b="0">
                <a:solidFill>
                  <a:srgbClr val="213846"/>
                </a:solidFill>
                <a:latin typeface="Bitstream Charter"/>
              </a:rPr>
              <a:t>Stadium and parking; use unmeasured.</a:t>
            </a:r>
          </a:p>
        </p:txBody>
      </p:sp>
      <p:pic xmlns:a="http://schemas.openxmlformats.org/drawingml/2006/main" xmlns:r="http://schemas.openxmlformats.org/officeDocument/2006/relationships">
        <p:nvPicPr>
          <p:cNvPr id="11" name="V18-26-02.jpeg" descr="V18-26 | Jogging route; V18-26-02.jpeg; 8 October 2026 | 13:00–14:00 Qatar (UTC+3) | Shared capture window; Photographer: Abdulrahman Almohannadi | Confirmed by Nasser, not EXIF | Exact per-file time: Unknown"/>
          <p:cNvPicPr>
            <a:picLocks noChangeAspect="1"/>
          </p:cNvPicPr>
          <p:nvPr/>
        </p:nvPicPr>
        <p:blipFill>
          <a:blip r:embed="rId7"/>
          <a:stretch>
            <a:fillRect/>
          </a:stretch>
        </p:blipFill>
        <p:spPr>
          <a:xfrm>
            <a:off x="8945232" y="1691640"/>
            <a:ext cx="1800225" cy="3200400"/>
          </a:xfrm>
          <a:prstGeom prst="rect">
            <a:avLst/>
          </a:prstGeom>
        </p:spPr>
      </p:pic>
      <p:sp xmlns:a="http://schemas.openxmlformats.org/drawingml/2006/main">
        <p:nvSpPr>
          <p:cNvPr id="12" name="TextBox 11"/>
          <p:cNvSpPr txBox="1"/>
          <p:nvPr/>
        </p:nvSpPr>
        <p:spPr>
          <a:xfrm>
            <a:off x="8107984" y="1353312"/>
            <a:ext cx="3474720" cy="320040"/>
          </a:xfrm>
          <a:prstGeom prst="rect">
            <a:avLst/>
          </a:prstGeom>
          <a:noFill/>
        </p:spPr>
        <p:txBody>
          <a:bodyPr wrap="square" lIns="0" rIns="0" tIns="0" bIns="0" anchor="t">
            <a:spAutoFit/>
          </a:bodyPr>
          <a:lstStyle/>
          <a:p>
            <a:pPr algn="l">
              <a:lnSpc>
                <a:spcPct val="120000"/>
              </a:lnSpc>
              <a:spcAft>
                <a:spcPts val="0"/>
              </a:spcAft>
            </a:pPr>
            <a:r>
              <a:rPr sz="1800" b="1">
                <a:solidFill>
                  <a:srgbClr val="163D46"/>
                </a:solidFill>
                <a:latin typeface="Bitstream Charter"/>
              </a:rPr>
              <a:t>V18-26 | Jogging route</a:t>
            </a:r>
          </a:p>
        </p:txBody>
      </p:sp>
      <p:sp xmlns:a="http://schemas.openxmlformats.org/drawingml/2006/main">
        <p:nvSpPr>
          <p:cNvPr id="13" name="TextBox 12"/>
          <p:cNvSpPr txBox="1"/>
          <p:nvPr/>
        </p:nvSpPr>
        <p:spPr>
          <a:xfrm>
            <a:off x="8107984" y="4956048"/>
            <a:ext cx="3474720" cy="448056"/>
          </a:xfrm>
          <a:prstGeom prst="rect">
            <a:avLst/>
          </a:prstGeom>
          <a:noFill/>
        </p:spPr>
        <p:txBody>
          <a:bodyPr wrap="square" lIns="0" rIns="0" tIns="0" bIns="0" anchor="t">
            <a:spAutoFit/>
          </a:bodyPr>
          <a:lstStyle/>
          <a:p>
            <a:pPr algn="l">
              <a:lnSpc>
                <a:spcPct val="120000"/>
              </a:lnSpc>
              <a:spcAft>
                <a:spcPts val="0"/>
              </a:spcAft>
            </a:pPr>
            <a:r>
              <a:rPr sz="1250" b="0">
                <a:solidFill>
                  <a:srgbClr val="213846"/>
                </a:solidFill>
                <a:latin typeface="Bitstream Charter"/>
              </a:rPr>
              <a:t>Marked path beside road and sandy ground.</a:t>
            </a:r>
          </a:p>
        </p:txBody>
      </p:sp>
      <p:sp xmlns:a="http://schemas.openxmlformats.org/drawingml/2006/main">
        <p:nvSpPr>
          <p:cNvPr id="14" name="TextBox 13"/>
          <p:cNvSpPr txBox="1"/>
          <p:nvPr/>
        </p:nvSpPr>
        <p:spPr>
          <a:xfrm>
            <a:off x="609904" y="5513832"/>
            <a:ext cx="10972800" cy="265176"/>
          </a:xfrm>
          <a:prstGeom prst="rect">
            <a:avLst/>
          </a:prstGeom>
          <a:noFill/>
        </p:spPr>
        <p:txBody>
          <a:bodyPr wrap="square" lIns="0" rIns="0" tIns="0" bIns="0" anchor="t">
            <a:spAutoFit/>
          </a:bodyPr>
          <a:lstStyle/>
          <a:p>
            <a:pPr algn="l">
              <a:lnSpc>
                <a:spcPct val="120000"/>
              </a:lnSpc>
              <a:spcAft>
                <a:spcPts val="0"/>
              </a:spcAft>
            </a:pPr>
            <a:r>
              <a:rPr sz="1520" b="0">
                <a:solidFill>
                  <a:srgbClr val="163D46"/>
                </a:solidFill>
                <a:latin typeface="Bitstream Charter"/>
              </a:rPr>
              <a:t>8 October 2026 | 13:00–14:00 Qatar (UTC+3) | Shared capture window</a:t>
            </a:r>
          </a:p>
        </p:txBody>
      </p:sp>
      <p:sp xmlns:a="http://schemas.openxmlformats.org/drawingml/2006/main">
        <p:nvSpPr>
          <p:cNvPr id="15" name="TextBox 14"/>
          <p:cNvSpPr txBox="1"/>
          <p:nvPr/>
        </p:nvSpPr>
        <p:spPr>
          <a:xfrm>
            <a:off x="609904" y="5815584"/>
            <a:ext cx="10972800" cy="219456"/>
          </a:xfrm>
          <a:prstGeom prst="rect">
            <a:avLst/>
          </a:prstGeom>
          <a:noFill/>
        </p:spPr>
        <p:txBody>
          <a:bodyPr wrap="square" lIns="0" rIns="0" tIns="0" bIns="0" anchor="t">
            <a:spAutoFit/>
          </a:bodyPr>
          <a:lstStyle/>
          <a:p>
            <a:pPr algn="l">
              <a:lnSpc>
                <a:spcPct val="120000"/>
              </a:lnSpc>
              <a:spcAft>
                <a:spcPts val="0"/>
              </a:spcAft>
            </a:pPr>
            <a:r>
              <a:rPr sz="1150" b="0">
                <a:solidFill>
                  <a:srgbClr val="526569"/>
                </a:solidFill>
                <a:latin typeface="Bitstream Charter"/>
              </a:rPr>
              <a:t>Photographer: Abdulrahman Almohannadi | Confirmed by Nasser, not EXIF | Exact per-file time: Unknown</a:t>
            </a:r>
          </a:p>
        </p:txBody>
      </p:sp>
    </p:spTree>
    <p:extLst>
      <p:ext uri="{BB962C8B-B14F-4D97-AF65-F5344CB8AC3E}">
        <p14:creationId xmlns:p14="http://schemas.microsoft.com/office/powerpoint/2010/main" val="1551155092"/>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8780E31-7C66-4C12-AD25-487E40B3B1C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Matched surface-temperature observations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f42fadd3d094151"/>
          <a:stretch xmlns:a="http://schemas.openxmlformats.org/drawingml/2006/main"/>
        </p:blipFill>
        <p:spPr>
          <a:xfrm xmlns:a="http://schemas.openxmlformats.org/drawingml/2006/main">
            <a:off x="1081088" y="1295400"/>
            <a:ext cx="10029825" cy="4629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FF3F46-B56D-4C61-B38B-ECB629743672}"/>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25" b="0">
                <a:solidFill>
                  <a:srgbClr val="526569"/>
                </a:solidFill>
                <a:latin typeface="Bitstream Charter"/>
                <a:ea typeface="Bitstream Charter"/>
                <a:cs typeface="Bitstream Charter"/>
              </a:rPr>
              <a:t>94.4379 km² of common inland sample footprints across the broad study window.</a:t>
            </a:r>
          </a:p>
        </p:txBody>
      </p:sp>
    </p:spTree>
    <p:extLst>
      <p:ext uri="{BB962C8B-B14F-4D97-AF65-F5344CB8AC3E}">
        <p14:creationId xmlns:p14="http://schemas.microsoft.com/office/powerpoint/2010/main" val="1465634553"/>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870632-A757-478B-9FA5-10FAF34217B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Three examples for site investigation</a:t>
            </a:r>
          </a:p>
        </p:txBody>
      </p:sp>
      <p:graphicFrame>
        <p:nvGraphicFramePr>
          <p:cNvPr id="9" name=""/>
          <p:cNvGraphicFramePr/>
          <p:nvPr/>
        </p:nvGraphicFramePr>
        <p:xfrm>
          <a:off xmlns:a="http://schemas.openxmlformats.org/drawingml/2006/main" x="609600" y="1428750"/>
          <a:ext xmlns:a="http://schemas.openxmlformats.org/drawingml/2006/main" cx="10972800" cy="2362200"/>
        </p:xfrm>
        <a:graphic xmlns:a="http://schemas.openxmlformats.org/drawingml/2006/main">
          <a:graphicData uri="http://schemas.openxmlformats.org/drawingml/2006/table">
            <a:tbl>
              <a:tblPr/>
              <a:tblGrid>
                <a:gridCol w="2000250"/>
                <a:gridCol w="2095500"/>
                <a:gridCol w="1905000"/>
                <a:gridCol w="2286000"/>
                <a:gridCol w="2686050"/>
              </a:tblGrid>
              <a:tr h="590550">
                <a:tc>
                  <a:txBody>
                    <a:bodyPr/>
                    <a:lstStyle/>
                    <a:p>
                      <a:r>
                        <a:rPr sz="2025" b="1">
                          <a:solidFill>
                            <a:srgbClr val="FFFFFF"/>
                          </a:solidFill>
                          <a:latin typeface="Bitstream Charter"/>
                          <a:ea typeface="Bitstream Charter"/>
                          <a:cs typeface="Bitstream Charter"/>
                        </a:rPr>
                        <a:t>Case study</a:t>
                      </a:r>
                    </a:p>
                  </a:txBody>
                  <a:tcPr marL="114300" marR="114300" marT="95250" marB="95250">
                    <a:solidFill>
                      <a:srgbClr val="163D46"/>
                    </a:solidFill>
                  </a:tcPr>
                </a:tc>
                <a:tc>
                  <a:txBody>
                    <a:bodyPr/>
                    <a:lstStyle/>
                    <a:p>
                      <a:r>
                        <a:rPr sz="2025" b="1">
                          <a:solidFill>
                            <a:srgbClr val="FFFFFF"/>
                          </a:solidFill>
                          <a:latin typeface="Bitstream Charter"/>
                          <a:ea typeface="Bitstream Charter"/>
                          <a:cs typeface="Bitstream Charter"/>
                        </a:rPr>
                        <a:t>Surface °C*</a:t>
                      </a:r>
                    </a:p>
                  </a:txBody>
                  <a:tcPr marL="114300" marR="114300" marT="95250" marB="95250">
                    <a:solidFill>
                      <a:srgbClr val="163D46"/>
                    </a:solidFill>
                  </a:tcPr>
                </a:tc>
                <a:tc>
                  <a:txBody>
                    <a:bodyPr/>
                    <a:lstStyle/>
                    <a:p>
                      <a:r>
                        <a:rPr sz="2025" b="1">
                          <a:solidFill>
                            <a:srgbClr val="FFFFFF"/>
                          </a:solidFill>
                          <a:latin typeface="Bitstream Charter"/>
                          <a:ea typeface="Bitstream Charter"/>
                          <a:cs typeface="Bitstream Charter"/>
                        </a:rPr>
                        <a:t>Green %*</a:t>
                      </a:r>
                    </a:p>
                  </a:txBody>
                  <a:tcPr marL="114300" marR="114300" marT="95250" marB="95250">
                    <a:solidFill>
                      <a:srgbClr val="163D46"/>
                    </a:solidFill>
                  </a:tcPr>
                </a:tc>
                <a:tc>
                  <a:txBody>
                    <a:bodyPr/>
                    <a:lstStyle/>
                    <a:p>
                      <a:r>
                        <a:rPr sz="2025" b="1">
                          <a:solidFill>
                            <a:srgbClr val="FFFFFF"/>
                          </a:solidFill>
                          <a:latin typeface="Bitstream Charter"/>
                          <a:ea typeface="Bitstream Charter"/>
                          <a:cs typeface="Bitstream Charter"/>
                        </a:rPr>
                        <a:t>Buildings %</a:t>
                      </a:r>
                    </a:p>
                  </a:txBody>
                  <a:tcPr marL="114300" marR="114300" marT="95250" marB="95250">
                    <a:solidFill>
                      <a:srgbClr val="163D46"/>
                    </a:solidFill>
                  </a:tcPr>
                </a:tc>
                <a:tc>
                  <a:txBody>
                    <a:bodyPr/>
                    <a:lstStyle/>
                    <a:p>
                      <a:r>
                        <a:rPr sz="2025" b="1">
                          <a:solidFill>
                            <a:srgbClr val="FFFFFF"/>
                          </a:solidFill>
                          <a:latin typeface="Bitstream Charter"/>
                          <a:ea typeface="Bitstream Charter"/>
                          <a:cs typeface="Bitstream Charter"/>
                        </a:rPr>
                        <a:t>Rank range</a:t>
                      </a:r>
                    </a:p>
                  </a:txBody>
                  <a:tcPr marL="114300" marR="114300" marT="95250" marB="95250">
                    <a:solidFill>
                      <a:srgbClr val="163D46"/>
                    </a:solidFill>
                  </a:tcPr>
                </a:tc>
              </a:tr>
              <a:tr h="590550">
                <a:tc>
                  <a:txBody>
                    <a:bodyPr/>
                    <a:lstStyle/>
                    <a:p>
                      <a:r>
                        <a:rPr sz="2100">
                          <a:solidFill>
                            <a:srgbClr val="213846"/>
                          </a:solidFill>
                          <a:latin typeface="Bitstream Charter"/>
                          <a:ea typeface="Bitstream Charter"/>
                          <a:cs typeface="Bitstream Charter"/>
                        </a:rPr>
                        <a:t>V04-23</a:t>
                      </a:r>
                    </a:p>
                  </a:txBody>
                  <a:tcPr marL="114300" marR="114300" marT="95250" marB="95250"/>
                </a:tc>
                <a:tc>
                  <a:txBody>
                    <a:bodyPr/>
                    <a:lstStyle/>
                    <a:p>
                      <a:r>
                        <a:rPr sz="2100">
                          <a:solidFill>
                            <a:srgbClr val="213846"/>
                          </a:solidFill>
                          <a:latin typeface="Bitstream Charter"/>
                          <a:ea typeface="Bitstream Charter"/>
                          <a:cs typeface="Bitstream Charter"/>
                        </a:rPr>
                        <a:t>50.4</a:t>
                      </a:r>
                    </a:p>
                  </a:txBody>
                  <a:tcPr marL="114300" marR="114300" marT="95250" marB="95250"/>
                </a:tc>
                <a:tc>
                  <a:txBody>
                    <a:bodyPr/>
                    <a:lstStyle/>
                    <a:p>
                      <a:r>
                        <a:rPr sz="2100">
                          <a:solidFill>
                            <a:srgbClr val="213846"/>
                          </a:solidFill>
                          <a:latin typeface="Bitstream Charter"/>
                          <a:ea typeface="Bitstream Charter"/>
                          <a:cs typeface="Bitstream Charter"/>
                        </a:rPr>
                        <a:t>0.0</a:t>
                      </a:r>
                    </a:p>
                  </a:txBody>
                  <a:tcPr marL="114300" marR="114300" marT="95250" marB="95250"/>
                </a:tc>
                <a:tc>
                  <a:txBody>
                    <a:bodyPr/>
                    <a:lstStyle/>
                    <a:p>
                      <a:r>
                        <a:rPr sz="2100">
                          <a:solidFill>
                            <a:srgbClr val="213846"/>
                          </a:solidFill>
                          <a:latin typeface="Bitstream Charter"/>
                          <a:ea typeface="Bitstream Charter"/>
                          <a:cs typeface="Bitstream Charter"/>
                        </a:rPr>
                        <a:t>2.3</a:t>
                      </a:r>
                    </a:p>
                  </a:txBody>
                  <a:tcPr marL="114300" marR="114300" marT="95250" marB="95250"/>
                </a:tc>
                <a:tc>
                  <a:txBody>
                    <a:bodyPr/>
                    <a:lstStyle/>
                    <a:p>
                      <a:r>
                        <a:rPr sz="2100">
                          <a:solidFill>
                            <a:srgbClr val="213846"/>
                          </a:solidFill>
                          <a:latin typeface="Bitstream Charter"/>
                          <a:ea typeface="Bitstream Charter"/>
                          <a:cs typeface="Bitstream Charter"/>
                        </a:rPr>
                        <a:t>1-14</a:t>
                      </a:r>
                    </a:p>
                  </a:txBody>
                  <a:tcPr marL="114300" marR="114300" marT="95250" marB="95250"/>
                </a:tc>
              </a:tr>
              <a:tr h="590550">
                <a:tc>
                  <a:txBody>
                    <a:bodyPr/>
                    <a:lstStyle/>
                    <a:p>
                      <a:r>
                        <a:rPr sz="2100">
                          <a:solidFill>
                            <a:srgbClr val="213846"/>
                          </a:solidFill>
                          <a:latin typeface="Bitstream Charter"/>
                          <a:ea typeface="Bitstream Charter"/>
                          <a:cs typeface="Bitstream Charter"/>
                        </a:rPr>
                        <a:t>V28-17</a:t>
                      </a:r>
                    </a:p>
                  </a:txBody>
                  <a:tcPr marL="114300" marR="114300" marT="95250" marB="95250"/>
                </a:tc>
                <a:tc>
                  <a:txBody>
                    <a:bodyPr/>
                    <a:lstStyle/>
                    <a:p>
                      <a:r>
                        <a:rPr sz="2100">
                          <a:solidFill>
                            <a:srgbClr val="213846"/>
                          </a:solidFill>
                          <a:latin typeface="Bitstream Charter"/>
                          <a:ea typeface="Bitstream Charter"/>
                          <a:cs typeface="Bitstream Charter"/>
                        </a:rPr>
                        <a:t>50.0</a:t>
                      </a:r>
                    </a:p>
                  </a:txBody>
                  <a:tcPr marL="114300" marR="114300" marT="95250" marB="95250"/>
                </a:tc>
                <a:tc>
                  <a:txBody>
                    <a:bodyPr/>
                    <a:lstStyle/>
                    <a:p>
                      <a:r>
                        <a:rPr sz="2100">
                          <a:solidFill>
                            <a:srgbClr val="213846"/>
                          </a:solidFill>
                          <a:latin typeface="Bitstream Charter"/>
                          <a:ea typeface="Bitstream Charter"/>
                          <a:cs typeface="Bitstream Charter"/>
                        </a:rPr>
                        <a:t>0.0</a:t>
                      </a:r>
                    </a:p>
                  </a:txBody>
                  <a:tcPr marL="114300" marR="114300" marT="95250" marB="95250"/>
                </a:tc>
                <a:tc>
                  <a:txBody>
                    <a:bodyPr/>
                    <a:lstStyle/>
                    <a:p>
                      <a:r>
                        <a:rPr sz="2100">
                          <a:solidFill>
                            <a:srgbClr val="213846"/>
                          </a:solidFill>
                          <a:latin typeface="Bitstream Charter"/>
                          <a:ea typeface="Bitstream Charter"/>
                          <a:cs typeface="Bitstream Charter"/>
                        </a:rPr>
                        <a:t>0.1</a:t>
                      </a:r>
                    </a:p>
                  </a:txBody>
                  <a:tcPr marL="114300" marR="114300" marT="95250" marB="95250"/>
                </a:tc>
                <a:tc>
                  <a:txBody>
                    <a:bodyPr/>
                    <a:lstStyle/>
                    <a:p>
                      <a:r>
                        <a:rPr sz="2100">
                          <a:solidFill>
                            <a:srgbClr val="213846"/>
                          </a:solidFill>
                          <a:latin typeface="Bitstream Charter"/>
                          <a:ea typeface="Bitstream Charter"/>
                          <a:cs typeface="Bitstream Charter"/>
                        </a:rPr>
                        <a:t>1-23</a:t>
                      </a:r>
                    </a:p>
                  </a:txBody>
                  <a:tcPr marL="114300" marR="114300" marT="95250" marB="95250"/>
                </a:tc>
              </a:tr>
              <a:tr h="590550">
                <a:tc>
                  <a:txBody>
                    <a:bodyPr/>
                    <a:lstStyle/>
                    <a:p>
                      <a:r>
                        <a:rPr sz="2100">
                          <a:solidFill>
                            <a:srgbClr val="213846"/>
                          </a:solidFill>
                          <a:latin typeface="Bitstream Charter"/>
                          <a:ea typeface="Bitstream Charter"/>
                          <a:cs typeface="Bitstream Charter"/>
                        </a:rPr>
                        <a:t>V18-26</a:t>
                      </a:r>
                    </a:p>
                  </a:txBody>
                  <a:tcPr marL="114300" marR="114300" marT="95250" marB="95250"/>
                </a:tc>
                <a:tc>
                  <a:txBody>
                    <a:bodyPr/>
                    <a:lstStyle/>
                    <a:p>
                      <a:r>
                        <a:rPr sz="2100">
                          <a:solidFill>
                            <a:srgbClr val="213846"/>
                          </a:solidFill>
                          <a:latin typeface="Bitstream Charter"/>
                          <a:ea typeface="Bitstream Charter"/>
                          <a:cs typeface="Bitstream Charter"/>
                        </a:rPr>
                        <a:t>47.47</a:t>
                      </a:r>
                    </a:p>
                  </a:txBody>
                  <a:tcPr marL="114300" marR="114300" marT="95250" marB="95250"/>
                </a:tc>
                <a:tc>
                  <a:txBody>
                    <a:bodyPr/>
                    <a:lstStyle/>
                    <a:p>
                      <a:r>
                        <a:rPr sz="2100">
                          <a:solidFill>
                            <a:srgbClr val="213846"/>
                          </a:solidFill>
                          <a:latin typeface="Bitstream Charter"/>
                          <a:ea typeface="Bitstream Charter"/>
                          <a:cs typeface="Bitstream Charter"/>
                        </a:rPr>
                        <a:t>0.0386</a:t>
                      </a:r>
                    </a:p>
                  </a:txBody>
                  <a:tcPr marL="114300" marR="114300" marT="95250" marB="95250"/>
                </a:tc>
                <a:tc>
                  <a:txBody>
                    <a:bodyPr/>
                    <a:lstStyle/>
                    <a:p>
                      <a:r>
                        <a:rPr sz="2100">
                          <a:solidFill>
                            <a:srgbClr val="213846"/>
                          </a:solidFill>
                          <a:latin typeface="Bitstream Charter"/>
                          <a:ea typeface="Bitstream Charter"/>
                          <a:cs typeface="Bitstream Charter"/>
                        </a:rPr>
                        <a:t>0.0</a:t>
                      </a:r>
                    </a:p>
                  </a:txBody>
                  <a:tcPr marL="114300" marR="114300" marT="95250" marB="95250"/>
                </a:tc>
                <a:tc>
                  <a:txBody>
                    <a:bodyPr/>
                    <a:lstStyle/>
                    <a:p>
                      <a:r>
                        <a:rPr sz="2100">
                          <a:solidFill>
                            <a:srgbClr val="213846"/>
                          </a:solidFill>
                          <a:latin typeface="Bitstream Charter"/>
                          <a:ea typeface="Bitstream Charter"/>
                          <a:cs typeface="Bitstream Charter"/>
                        </a:rPr>
                        <a:t>203–336</a:t>
                      </a:r>
                    </a:p>
                  </a:txBody>
                  <a:tcPr marL="114300" marR="114300" marT="95250" marB="95250"/>
                </a:tc>
              </a:tr>
            </a:tbl>
          </a:graphicData>
        </a:graphic>
      </p:graphicFrame>
      <p:sp>
        <p:nvSpPr>
          <p:cNvPr id="3" name="">
            <a:extLst xmlns:a="http://schemas.openxmlformats.org/drawingml/2006/main">
              <a:ext uri="{FF2B5EF4-FFF2-40B4-BE49-F238E27FC236}">
                <a16:creationId xmlns:a16="http://schemas.microsoft.com/office/drawing/2014/main" id="{D2122468-CE84-4790-86F4-0242EDA2CC8A}"/>
              </a:ext>
            </a:extLst>
          </p:cNvPr>
          <p:cNvSpPr>
            <a:spLocks xmlns:a="http://schemas.openxmlformats.org/drawingml/2006/main" noGrp="1"/>
          </p:cNvSpPr>
          <p:nvPr/>
        </p:nvSpPr>
        <p:spPr>
          <a:xfrm xmlns:a="http://schemas.openxmlformats.org/drawingml/2006/main">
            <a:off x="609600" y="4095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200" b="0">
                <a:solidFill>
                  <a:srgbClr val="213846"/>
                </a:solidFill>
                <a:latin typeface="Bitstream Charter"/>
                <a:ea typeface="Bitstream Charter"/>
                <a:cs typeface="Bitstream Charter"/>
              </a:rPr>
              <a:t>Bus stop: waiting-area shade. Stadium: event use. Jogging route: reported lack of path shade. Photos received; use and detailed shade unmeasured.</a:t>
            </a:r>
          </a:p>
        </p:txBody>
      </p:sp>
      <p:sp>
        <p:nvSpPr>
          <p:cNvPr id="4" name="">
            <a:extLst xmlns:a="http://schemas.openxmlformats.org/drawingml/2006/main">
              <a:ext uri="{FF2B5EF4-FFF2-40B4-BE49-F238E27FC236}">
                <a16:creationId xmlns:a16="http://schemas.microsoft.com/office/drawing/2014/main" id="{8931D8EA-4759-43AB-BE24-45E00D51E6E8}"/>
              </a:ext>
            </a:extLst>
          </p:cNvPr>
          <p:cNvSpPr>
            <a:spLocks xmlns:a="http://schemas.openxmlformats.org/drawingml/2006/main" noGrp="1"/>
          </p:cNvSpPr>
          <p:nvPr/>
        </p:nvSpPr>
        <p:spPr>
          <a:xfrm xmlns:a="http://schemas.openxmlformats.org/drawingml/2006/main">
            <a:off x="609600" y="4953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100" b="0">
                <a:solidFill>
                  <a:srgbClr val="213846"/>
                </a:solidFill>
                <a:latin typeface="Bitstream Charter"/>
                <a:ea typeface="Bitstream Charter"/>
                <a:cs typeface="Bitstream Charter"/>
              </a:rPr>
              <a:t>Team-selected examples, not the top three ranks. V18-26 ranks 275/373; hospital land stays in the full results. Visits do not measure use or shade.</a:t>
            </a:r>
          </a:p>
        </p:txBody>
      </p:sp>
      <p:sp>
        <p:nvSpPr>
          <p:cNvPr id="5" name="">
            <a:extLst xmlns:a="http://schemas.openxmlformats.org/drawingml/2006/main">
              <a:ext uri="{FF2B5EF4-FFF2-40B4-BE49-F238E27FC236}">
                <a16:creationId xmlns:a16="http://schemas.microsoft.com/office/drawing/2014/main" id="{BE87962C-22AA-4D03-8694-B545C0613DA7}"/>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550" b="0">
                <a:solidFill>
                  <a:srgbClr val="526569"/>
                </a:solidFill>
                <a:latin typeface="Bitstream Charter"/>
                <a:ea typeface="Bitstream Charter"/>
                <a:cs typeface="Bitstream Charter"/>
              </a:rPr>
              <a:t>*Means of date-level cell summaries. V18-26: 48.02/46.92°C; 72% coverage. Scenario ranges are not confidence intervals.</a:t>
            </a:r>
          </a:p>
        </p:txBody>
      </p:sp>
    </p:spTree>
    <p:extLst>
      <p:ext uri="{BB962C8B-B14F-4D97-AF65-F5344CB8AC3E}">
        <p14:creationId xmlns:p14="http://schemas.microsoft.com/office/powerpoint/2010/main" val="1060568423"/>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A8C7E8-47E6-4A26-AB97-0A2CBC337E2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Reproducibility and reference checks</a:t>
            </a:r>
          </a:p>
        </p:txBody>
      </p:sp>
      <p:sp>
        <p:nvSpPr>
          <p:cNvPr id="2" name="">
            <a:extLst xmlns:a="http://schemas.openxmlformats.org/drawingml/2006/main">
              <a:ext uri="{FF2B5EF4-FFF2-40B4-BE49-F238E27FC236}">
                <a16:creationId xmlns:a16="http://schemas.microsoft.com/office/drawing/2014/main" id="{19DEF39B-E617-4792-9118-3836701CD0BB}"/>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The package includes 35 hashed input files, source metadata and pinned Python 3.12 dependencies.</a:t>
            </a:r>
          </a:p>
        </p:txBody>
      </p:sp>
      <p:sp>
        <p:nvSpPr>
          <p:cNvPr id="3" name="">
            <a:extLst xmlns:a="http://schemas.openxmlformats.org/drawingml/2006/main">
              <a:ext uri="{FF2B5EF4-FFF2-40B4-BE49-F238E27FC236}">
                <a16:creationId xmlns:a16="http://schemas.microsoft.com/office/drawing/2014/main" id="{0CE2F0AC-5ABE-4EE3-BC0F-750F1F8C4B23}"/>
              </a:ext>
            </a:extLst>
          </p:cNvPr>
          <p:cNvSpPr>
            <a:spLocks xmlns:a="http://schemas.openxmlformats.org/drawingml/2006/main" noGrp="1"/>
          </p:cNvSpPr>
          <p:nvPr/>
        </p:nvSpPr>
        <p:spPr>
          <a:xfrm xmlns:a="http://schemas.openxmlformats.org/drawingml/2006/main">
            <a:off x="609600" y="26384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Clean GitHub execution passed through a normal Jupyter kernel: five cells, zero errors and all 35 input hashes verified.</a:t>
            </a:r>
          </a:p>
        </p:txBody>
      </p:sp>
      <p:sp>
        <p:nvSpPr>
          <p:cNvPr id="4" name="">
            <a:extLst xmlns:a="http://schemas.openxmlformats.org/drawingml/2006/main">
              <a:ext uri="{FF2B5EF4-FFF2-40B4-BE49-F238E27FC236}">
                <a16:creationId xmlns:a16="http://schemas.microsoft.com/office/drawing/2014/main" id="{DC7FC9E2-62F9-4E62-BB95-CA48FA92E631}"/>
              </a:ext>
            </a:extLst>
          </p:cNvPr>
          <p:cNvSpPr>
            <a:spLocks xmlns:a="http://schemas.openxmlformats.org/drawingml/2006/main" noGrp="1"/>
          </p:cNvSpPr>
          <p:nvPr/>
        </p:nvSpPr>
        <p:spPr>
          <a:xfrm xmlns:a="http://schemas.openxmlformats.org/drawingml/2006/main">
            <a:off x="609600" y="37052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NDVI &gt;=0.30 at 24/25 grass references and 0/30 building references. All 30 coastal references are excluded from retained thermal support.</a:t>
            </a:r>
          </a:p>
        </p:txBody>
      </p:sp>
      <p:sp>
        <p:nvSpPr>
          <p:cNvPr id="5" name="">
            <a:extLst xmlns:a="http://schemas.openxmlformats.org/drawingml/2006/main">
              <a:ext uri="{FF2B5EF4-FFF2-40B4-BE49-F238E27FC236}">
                <a16:creationId xmlns:a16="http://schemas.microsoft.com/office/drawing/2014/main" id="{A1C631DC-6431-4F1F-88F1-01F01C5482AE}"/>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25" b="0">
                <a:solidFill>
                  <a:srgbClr val="526569"/>
                </a:solidFill>
                <a:latin typeface="Bitstream Charter"/>
                <a:ea typeface="Bitstream Charter"/>
                <a:cs typeface="Bitstream Charter"/>
              </a:rPr>
              <a:t>Contributed reference labels have conflicts. Human confirmation and independent thermal validation remain pending.</a:t>
            </a:r>
          </a:p>
        </p:txBody>
      </p:sp>
    </p:spTree>
    <p:extLst>
      <p:ext uri="{BB962C8B-B14F-4D97-AF65-F5344CB8AC3E}">
        <p14:creationId xmlns:p14="http://schemas.microsoft.com/office/powerpoint/2010/main" val="173999556"/>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AC5575-8B47-4837-BCE1-5360E83833A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Potential impact and incubation next steps</a:t>
            </a:r>
          </a:p>
        </p:txBody>
      </p:sp>
      <p:sp>
        <p:nvSpPr>
          <p:cNvPr id="2" name="">
            <a:extLst xmlns:a="http://schemas.openxmlformats.org/drawingml/2006/main">
              <a:ext uri="{FF2B5EF4-FFF2-40B4-BE49-F238E27FC236}">
                <a16:creationId xmlns:a16="http://schemas.microsoft.com/office/drawing/2014/main" id="{BA9A283D-E81A-4C27-8383-EE26465B6852}"/>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Completed: satellite screening, sensitivity checks, local examples and preliminary review of 18 sites across four dates.</a:t>
            </a:r>
          </a:p>
        </p:txBody>
      </p:sp>
      <p:sp>
        <p:nvSpPr>
          <p:cNvPr id="3" name="">
            <a:extLst xmlns:a="http://schemas.openxmlformats.org/drawingml/2006/main">
              <a:ext uri="{FF2B5EF4-FFF2-40B4-BE49-F238E27FC236}">
                <a16:creationId xmlns:a16="http://schemas.microsoft.com/office/drawing/2014/main" id="{3BB4AE13-A5EA-4A95-AE7D-8B6818FD400D}"/>
              </a:ext>
            </a:extLst>
          </p:cNvPr>
          <p:cNvSpPr>
            <a:spLocks xmlns:a="http://schemas.openxmlformats.org/drawingml/2006/main" noGrp="1"/>
          </p:cNvSpPr>
          <p:nvPr/>
        </p:nvSpPr>
        <p:spPr>
          <a:xfrm xmlns:a="http://schemas.openxmlformats.org/drawingml/2006/main">
            <a:off x="609600" y="26384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Proposed pilot: planner feedback and field shade/use/access checks; evaluate shortlist usefulness and feasibility.</a:t>
            </a:r>
          </a:p>
        </p:txBody>
      </p:sp>
      <p:sp>
        <p:nvSpPr>
          <p:cNvPr id="4" name="">
            <a:extLst xmlns:a="http://schemas.openxmlformats.org/drawingml/2006/main">
              <a:ext uri="{FF2B5EF4-FFF2-40B4-BE49-F238E27FC236}">
                <a16:creationId xmlns:a16="http://schemas.microsoft.com/office/drawing/2014/main" id="{F81F9B66-2849-46D1-9C7A-427BD6C854A9}"/>
              </a:ext>
            </a:extLst>
          </p:cNvPr>
          <p:cNvSpPr>
            <a:spLocks xmlns:a="http://schemas.openxmlformats.org/drawingml/2006/main" noGrp="1"/>
          </p:cNvSpPr>
          <p:nvPr/>
        </p:nvSpPr>
        <p:spPr>
          <a:xfrm xmlns:a="http://schemas.openxmlformats.org/drawingml/2006/main">
            <a:off x="609600" y="37052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200" b="0">
                <a:solidFill>
                  <a:srgbClr val="213846"/>
                </a:solidFill>
                <a:latin typeface="Bitstream Charter"/>
                <a:ea typeface="Bitstream Charter"/>
                <a:cs typeface="Bitstream Charter"/>
              </a:rPr>
              <a:t>Limited Dynamic World experiment: common coverage 30.94% (50% gate). Independent scientific validation pending; 2023 deferred.</a:t>
            </a:r>
          </a:p>
        </p:txBody>
      </p:sp>
      <p:sp>
        <p:nvSpPr>
          <p:cNvPr id="5" name="">
            <a:extLst xmlns:a="http://schemas.openxmlformats.org/drawingml/2006/main">
              <a:ext uri="{FF2B5EF4-FFF2-40B4-BE49-F238E27FC236}">
                <a16:creationId xmlns:a16="http://schemas.microsoft.com/office/drawing/2014/main" id="{0377F620-4262-4520-A674-2CE4EA055DCF}"/>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25" b="0">
                <a:solidFill>
                  <a:srgbClr val="526569"/>
                </a:solidFill>
                <a:latin typeface="Bitstream Charter"/>
                <a:ea typeface="Bitstream Charter"/>
                <a:cs typeface="Bitstream Charter"/>
              </a:rPr>
              <a:t>The current PoC does not measure urban expansion, health risk, causal cooling or long-term warming.</a:t>
            </a:r>
          </a:p>
        </p:txBody>
      </p:sp>
    </p:spTree>
    <p:extLst>
      <p:ext uri="{BB962C8B-B14F-4D97-AF65-F5344CB8AC3E}">
        <p14:creationId xmlns:p14="http://schemas.microsoft.com/office/powerpoint/2010/main" val="1462153155"/>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2EFDBB-5A2B-4CA8-95D9-580DEF39AEB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Team responsibilities</a:t>
            </a:r>
          </a:p>
        </p:txBody>
      </p:sp>
      <p:sp>
        <p:nvSpPr>
          <p:cNvPr id="2" name="">
            <a:extLst xmlns:a="http://schemas.openxmlformats.org/drawingml/2006/main">
              <a:ext uri="{FF2B5EF4-FFF2-40B4-BE49-F238E27FC236}">
                <a16:creationId xmlns:a16="http://schemas.microsoft.com/office/drawing/2014/main" id="{E663DE18-1EB9-4484-B2AF-939703EE5CC9}"/>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Nasser Alhuri: team coordination, site-visit confirmation and submission.</a:t>
            </a:r>
          </a:p>
        </p:txBody>
      </p:sp>
      <p:sp>
        <p:nvSpPr>
          <p:cNvPr id="3" name="">
            <a:extLst xmlns:a="http://schemas.openxmlformats.org/drawingml/2006/main">
              <a:ext uri="{FF2B5EF4-FFF2-40B4-BE49-F238E27FC236}">
                <a16:creationId xmlns:a16="http://schemas.microsoft.com/office/drawing/2014/main" id="{CF33405E-9F84-4AAB-BFBC-D83B9270912B}"/>
              </a:ext>
            </a:extLst>
          </p:cNvPr>
          <p:cNvSpPr>
            <a:spLocks xmlns:a="http://schemas.openxmlformats.org/drawingml/2006/main" noGrp="1"/>
          </p:cNvSpPr>
          <p:nvPr/>
        </p:nvSpPr>
        <p:spPr>
          <a:xfrm xmlns:a="http://schemas.openxmlformats.org/drawingml/2006/main">
            <a:off x="609600" y="2381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100" b="0">
                <a:solidFill>
                  <a:srgbClr val="213846"/>
                </a:solidFill>
                <a:latin typeface="Bitstream Charter"/>
                <a:ea typeface="Bitstream Charter"/>
                <a:cs typeface="Bitstream Charter"/>
              </a:rPr>
              <a:t>Abdulrahman Almohannadi: supplied 11 photos + one video; project review remains pending.</a:t>
            </a:r>
          </a:p>
        </p:txBody>
      </p:sp>
      <p:sp>
        <p:nvSpPr>
          <p:cNvPr id="4" name="">
            <a:extLst xmlns:a="http://schemas.openxmlformats.org/drawingml/2006/main">
              <a:ext uri="{FF2B5EF4-FFF2-40B4-BE49-F238E27FC236}">
                <a16:creationId xmlns:a16="http://schemas.microsoft.com/office/drawing/2014/main" id="{3C4E8821-664A-4B46-B4D3-000DC8FB7965}"/>
              </a:ext>
            </a:extLst>
          </p:cNvPr>
          <p:cNvSpPr>
            <a:spLocks xmlns:a="http://schemas.openxmlformats.org/drawingml/2006/main" noGrp="1"/>
          </p:cNvSpPr>
          <p:nvPr/>
        </p:nvSpPr>
        <p:spPr>
          <a:xfrm xmlns:a="http://schemas.openxmlformats.org/drawingml/2006/main">
            <a:off x="609600" y="3190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00" b="0">
                <a:solidFill>
                  <a:srgbClr val="213846"/>
                </a:solidFill>
                <a:latin typeface="Bitstream Charter"/>
                <a:ea typeface="Bitstream Charter"/>
                <a:cs typeface="Bitstream Charter"/>
              </a:rPr>
              <a:t>Mohammed Almarri: rehearse the live pitch (up to 10 min) and 5 min Q&amp;A.</a:t>
            </a:r>
          </a:p>
        </p:txBody>
      </p:sp>
      <p:sp>
        <p:nvSpPr>
          <p:cNvPr id="5" name="">
            <a:extLst xmlns:a="http://schemas.openxmlformats.org/drawingml/2006/main">
              <a:ext uri="{FF2B5EF4-FFF2-40B4-BE49-F238E27FC236}">
                <a16:creationId xmlns:a16="http://schemas.microsoft.com/office/drawing/2014/main" id="{B18481E6-9679-437D-8E9B-93CDA5D7FB81}"/>
              </a:ext>
            </a:extLst>
          </p:cNvPr>
          <p:cNvSpPr>
            <a:spLocks xmlns:a="http://schemas.openxmlformats.org/drawingml/2006/main" noGrp="1"/>
          </p:cNvSpPr>
          <p:nvPr/>
        </p:nvSpPr>
        <p:spPr>
          <a:xfrm xmlns:a="http://schemas.openxmlformats.org/drawingml/2006/main">
            <a:off x="609600" y="4000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Majed Alkuwari: review slides and explain the limitations.</a:t>
            </a:r>
          </a:p>
        </p:txBody>
      </p:sp>
      <p:sp>
        <p:nvSpPr>
          <p:cNvPr id="6" name="">
            <a:extLst xmlns:a="http://schemas.openxmlformats.org/drawingml/2006/main">
              <a:ext uri="{FF2B5EF4-FFF2-40B4-BE49-F238E27FC236}">
                <a16:creationId xmlns:a16="http://schemas.microsoft.com/office/drawing/2014/main" id="{7448F61C-907E-4050-90D4-949FF229BD3B}"/>
              </a:ext>
            </a:extLst>
          </p:cNvPr>
          <p:cNvSpPr>
            <a:spLocks xmlns:a="http://schemas.openxmlformats.org/drawingml/2006/main" noGrp="1"/>
          </p:cNvSpPr>
          <p:nvPr/>
        </p:nvSpPr>
        <p:spPr>
          <a:xfrm xmlns:a="http://schemas.openxmlformats.org/drawingml/2006/main">
            <a:off x="609600" y="48101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13846"/>
                </a:solidFill>
                <a:latin typeface="Bitstream Charter"/>
                <a:ea typeface="Bitstream Charter"/>
                <a:cs typeface="Bitstream Charter"/>
              </a:defRPr>
            </a:pPr>
            <a:r>
              <a:rPr sz="2250" b="0">
                <a:solidFill>
                  <a:srgbClr val="213846"/>
                </a:solidFill>
                <a:latin typeface="Bitstream Charter"/>
                <a:ea typeface="Bitstream Charter"/>
                <a:cs typeface="Bitstream Charter"/>
              </a:rPr>
              <a:t>Ali Alkubaisi: rehearse the offline demo and prepare five-minute judge Q&amp;A.</a:t>
            </a:r>
          </a:p>
        </p:txBody>
      </p:sp>
      <p:sp>
        <p:nvSpPr>
          <p:cNvPr id="7" name="">
            <a:extLst xmlns:a="http://schemas.openxmlformats.org/drawingml/2006/main">
              <a:ext uri="{FF2B5EF4-FFF2-40B4-BE49-F238E27FC236}">
                <a16:creationId xmlns:a16="http://schemas.microsoft.com/office/drawing/2014/main" id="{4237B568-62A5-4CFD-9BAC-18D5945A254A}"/>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00" b="0">
                <a:solidFill>
                  <a:srgbClr val="526569"/>
                </a:solidFill>
                <a:latin typeface="Bitstream Charter"/>
                <a:ea typeface="Bitstream Charter"/>
                <a:cs typeface="Bitstream Charter"/>
              </a:rPr>
              <a:t>Photographed-site visits and supplied media collection confirmed by Nasser. Detailed assessment, member reviews and rehearsals remain pending.</a:t>
            </a:r>
          </a:p>
        </p:txBody>
      </p:sp>
    </p:spTree>
    <p:extLst>
      <p:ext uri="{BB962C8B-B14F-4D97-AF65-F5344CB8AC3E}">
        <p14:creationId xmlns:p14="http://schemas.microsoft.com/office/powerpoint/2010/main" val="326947995"/>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FC678B-F68F-466D-A9BC-51447DD08D3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63D46"/>
                </a:solidFill>
                <a:latin typeface="Bitstream Charter"/>
                <a:ea typeface="Bitstream Charter"/>
                <a:cs typeface="Bitstream Charter"/>
              </a:defRPr>
            </a:pPr>
            <a:r>
              <a:rPr sz="3300" b="1">
                <a:solidFill>
                  <a:srgbClr val="163D46"/>
                </a:solidFill>
                <a:latin typeface="Bitstream Charter"/>
                <a:ea typeface="Bitstream Charter"/>
                <a:cs typeface="Bitstream Charter"/>
              </a:rPr>
              <a:t>Data attribution and sources</a:t>
            </a:r>
          </a:p>
        </p:txBody>
      </p:sp>
      <p:sp>
        <p:nvSpPr>
          <p:cNvPr id="2" name="">
            <a:extLst xmlns:a="http://schemas.openxmlformats.org/drawingml/2006/main">
              <a:ext uri="{FF2B5EF4-FFF2-40B4-BE49-F238E27FC236}">
                <a16:creationId xmlns:a16="http://schemas.microsoft.com/office/drawing/2014/main" id="{66204AB2-7D13-4BF7-B647-B2AEF52DB330}"/>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Actual sources: Copernicus Sentinel, Landsat (USGS), WorldCover 2021, OSM; separate experimental Dynamic World exports (2021, 2026).</a:t>
            </a:r>
          </a:p>
        </p:txBody>
      </p:sp>
      <p:sp>
        <p:nvSpPr>
          <p:cNvPr id="3" name="">
            <a:extLst xmlns:a="http://schemas.openxmlformats.org/drawingml/2006/main">
              <a:ext uri="{FF2B5EF4-FFF2-40B4-BE49-F238E27FC236}">
                <a16:creationId xmlns:a16="http://schemas.microsoft.com/office/drawing/2014/main" id="{ED307E2E-D67D-4810-A26A-63DFE0534665}"/>
              </a:ext>
            </a:extLst>
          </p:cNvPr>
          <p:cNvSpPr>
            <a:spLocks xmlns:a="http://schemas.openxmlformats.org/drawingml/2006/main" noGrp="1"/>
          </p:cNvSpPr>
          <p:nvPr/>
        </p:nvSpPr>
        <p:spPr>
          <a:xfrm xmlns:a="http://schemas.openxmlformats.org/drawingml/2006/main">
            <a:off x="609600" y="26384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400" b="0">
                <a:solidFill>
                  <a:srgbClr val="213846"/>
                </a:solidFill>
                <a:latin typeface="Bitstream Charter"/>
                <a:ea typeface="Bitstream Charter"/>
                <a:cs typeface="Bitstream Charter"/>
              </a:rPr>
              <a:t>Credits: modified Copernicus Sentinel data (2026); Landsat courtesy USGS; WorldCover CC BY 4.0; OSM ODbL.</a:t>
            </a:r>
          </a:p>
        </p:txBody>
      </p:sp>
      <p:sp>
        <p:nvSpPr>
          <p:cNvPr id="4" name="">
            <a:extLst xmlns:a="http://schemas.openxmlformats.org/drawingml/2006/main">
              <a:ext uri="{FF2B5EF4-FFF2-40B4-BE49-F238E27FC236}">
                <a16:creationId xmlns:a16="http://schemas.microsoft.com/office/drawing/2014/main" id="{F3C51922-108A-4686-A8D0-CA022884E1CE}"/>
              </a:ext>
            </a:extLst>
          </p:cNvPr>
          <p:cNvSpPr>
            <a:spLocks xmlns:a="http://schemas.openxmlformats.org/drawingml/2006/main" noGrp="1"/>
          </p:cNvSpPr>
          <p:nvPr/>
        </p:nvSpPr>
        <p:spPr>
          <a:xfrm xmlns:a="http://schemas.openxmlformats.org/drawingml/2006/main">
            <a:off x="609600" y="37052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2000" b="0">
                <a:solidFill>
                  <a:srgbClr val="213846"/>
                </a:solidFill>
                <a:latin typeface="Bitstream Charter"/>
                <a:ea typeface="Bitstream Charter"/>
                <a:cs typeface="Bitstream Charter"/>
              </a:rPr>
              <a:t>Dynamic World, CC BY 4.0: This dataset is produced for the Dynamic World Project by Google in partnership with National Geographic Society and the World Resources Institute.</a:t>
            </a:r>
          </a:p>
        </p:txBody>
      </p:sp>
      <p:sp>
        <p:nvSpPr>
          <p:cNvPr id="5" name="">
            <a:extLst xmlns:a="http://schemas.openxmlformats.org/drawingml/2006/main">
              <a:ext uri="{FF2B5EF4-FFF2-40B4-BE49-F238E27FC236}">
                <a16:creationId xmlns:a16="http://schemas.microsoft.com/office/drawing/2014/main" id="{75969E63-5643-4E4C-A957-BC08157FD5A5}"/>
              </a:ext>
            </a:extLst>
          </p:cNvPr>
          <p:cNvSpPr>
            <a:spLocks xmlns:a="http://schemas.openxmlformats.org/drawingml/2006/main" noGrp="1"/>
          </p:cNvSpPr>
          <p:nvPr/>
        </p:nvSpPr>
        <p:spPr>
          <a:xfrm xmlns:a="http://schemas.openxmlformats.org/drawingml/2006/main">
            <a:off x="609600" y="47720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846"/>
                </a:solidFill>
                <a:latin typeface="Bitstream Charter"/>
                <a:ea typeface="Bitstream Charter"/>
                <a:cs typeface="Bitstream Charter"/>
              </a:defRPr>
            </a:pPr>
            <a:r>
              <a:rPr sz="1850" b="0">
                <a:solidFill>
                  <a:srgbClr val="213846"/>
                </a:solidFill>
                <a:latin typeface="Bitstream Charter"/>
                <a:ea typeface="Bitstream Charter"/>
                <a:cs typeface="Bitstream Charter"/>
              </a:rPr>
              <a:t>Field photos: Abdulrahman Almohannadi, 8 October 2026, shared 13:00–14:00 Qatar (UTC+3) window. Confirmed by Nasser, not EXIF; exact per-file times Unknown.</a:t>
            </a:r>
          </a:p>
        </p:txBody>
      </p:sp>
      <p:sp>
        <p:nvSpPr>
          <p:cNvPr id="6" name="">
            <a:extLst xmlns:a="http://schemas.openxmlformats.org/drawingml/2006/main">
              <a:ext uri="{FF2B5EF4-FFF2-40B4-BE49-F238E27FC236}">
                <a16:creationId xmlns:a16="http://schemas.microsoft.com/office/drawing/2014/main" id="{76CDBD7B-0DB2-482F-9AF1-8CCE50BE7DA3}"/>
              </a:ext>
            </a:extLst>
          </p:cNvPr>
          <p:cNvSpPr>
            <a:spLocks xmlns:a="http://schemas.openxmlformats.org/drawingml/2006/main" noGrp="1"/>
          </p:cNvSpPr>
          <p:nvPr/>
        </p:nvSpPr>
        <p:spPr>
          <a:xfrm xmlns:a="http://schemas.openxmlformats.org/drawingml/2006/main">
            <a:off x="609600" y="6067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569"/>
                </a:solidFill>
                <a:latin typeface="Bitstream Charter"/>
                <a:ea typeface="Bitstream Charter"/>
                <a:cs typeface="Bitstream Charter"/>
              </a:defRPr>
            </a:pPr>
            <a:r>
              <a:rPr sz="1725" b="0">
                <a:solidFill>
                  <a:srgbClr val="526569"/>
                </a:solidFill>
                <a:latin typeface="Bitstream Charter"/>
                <a:ea typeface="Bitstream Charter"/>
                <a:cs typeface="Bitstream Charter"/>
              </a:rPr>
              <a:t>Modified Copernicus Sentinel data (2021, 2026). Full sources, licences and experimental limits accompany the package. Code: MIT.</a:t>
            </a:r>
          </a:p>
        </p:txBody>
      </p:sp>
    </p:spTree>
    <p:extLst>
      <p:ext uri="{BB962C8B-B14F-4D97-AF65-F5344CB8AC3E}">
        <p14:creationId xmlns:p14="http://schemas.microsoft.com/office/powerpoint/2010/main" val="1819648591"/>
      </p:ext>
    </p:extLst>
  </p:cSld>
</p:sld>
</file>

<file path=ppt/theme/theme1.xml><?xml version="1.0" encoding="utf-8"?>
<a:theme xmlns:a="http://schemas.openxmlformats.org/drawingml/2006/main" name="embedded preview">
  <a:themeElements>
    <a:clrScheme name="embedded preview">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embedded p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2026-10-06T07:29:07.9420000Z</dcterms:created>
  <dcterms:modified xsi:type="dcterms:W3CDTF">2026-10-06T07:29:07.9420000Z</dcterms:modified>
</coreProperties>
</file>